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8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25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F79C-7A8C-DFB1-7FBE-EAC19F74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97BA6-262B-C17A-D355-A5FDA51E7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60D25-592C-1A2F-79AC-B7C0EE55D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D0C7F-C9DE-D71D-AD9F-2BA3C4566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1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E210-7F05-7DEA-FD0E-6225D745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A9A29-6EB9-7F2B-1095-F57AD41CE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37D71-6017-67A6-7C18-E07F46F5B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C7D06-A863-5AD8-8867-14A5BF548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39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535D-5370-0EF9-82BC-6387E7BC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83267-2412-05E5-AC4C-D76C4F42B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B1BC7-2E29-5FCC-58C4-88B6EF86B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3E7C7-29A5-E6D7-E7F0-8DA9921BF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82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fade thruBlk="1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250" y="2686350"/>
            <a:ext cx="10363200" cy="1907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Директивы препроцессора C/C++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Ларин Андрей 1 курс</a:t>
            </a:r>
            <a:endParaRPr lang="en-US" sz="40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374" y="0"/>
            <a:ext cx="5956102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77465" y="4433850"/>
            <a:ext cx="5835600" cy="43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Директивы препроцессора C/C++ обрабатывают исходный код перед компиляцией, улучшая структуру и производительность. Они позволяют управлять зависимостями, определять макросы и условия компиляции, тем самым повышая гибкость и эффективность программирования.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277465" y="1261000"/>
            <a:ext cx="58356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директив препроцессора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504500" y="2031800"/>
            <a:ext cx="3725700" cy="12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Директива #define позволяет создавать макроопределения, упрощая код и улучшая читаемость. Макросы заменяют константы, сокращая необходимость изменения множества строк в случае обновления значений.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026400" y="2628075"/>
            <a:ext cx="3606900" cy="12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#undef позволяет удалить ранее созданные макроопределения. Это полезно для изменения значения макроса, обеспечивая гибкость и адаптивность кода. Без отмены предыдущего макроса, его переопределение невозможно.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16200" y="4417275"/>
            <a:ext cx="3725700" cy="115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Макросы определяются одной строкой, но могут включать в себя сложные структуры. Макросы заменяются текстом во время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препроцессорной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обработки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26400" y="4973775"/>
            <a:ext cx="3606900" cy="12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Все директивы в тексте программы принято писать с начала строки без отступов. Хотя, стандарт C99 разрешает это делать, в частности, ставить пробельные символы перед символом # и даже после него.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98600" y="482825"/>
            <a:ext cx="11394900" cy="73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Макродирективы #define и #undef</a:t>
            </a:r>
            <a:endParaRPr lang="en-US" sz="3200" dirty="0"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688A-F200-D55A-457F-ACFD3FB2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B68E92B-A658-7478-4A04-E7CD91FC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514F02A-70E5-E9C0-2FA7-8DC352401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609" y="468600"/>
            <a:ext cx="4686722" cy="5910349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C256D20-3419-A9E1-48D2-788DBE85B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C1DDD16-EE12-8A9A-7C7E-94834002493D}"/>
              </a:ext>
            </a:extLst>
          </p:cNvPr>
          <p:cNvSpPr txBox="1"/>
          <p:nvPr/>
        </p:nvSpPr>
        <p:spPr>
          <a:xfrm>
            <a:off x="1202425" y="1372975"/>
            <a:ext cx="5561045" cy="73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#define</a:t>
            </a:r>
            <a:endParaRPr lang="en-US" sz="3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BA7D599-2AE5-FF44-E344-28969A1933A7}"/>
              </a:ext>
            </a:extLst>
          </p:cNvPr>
          <p:cNvSpPr txBox="1"/>
          <p:nvPr/>
        </p:nvSpPr>
        <p:spPr>
          <a:xfrm>
            <a:off x="11472115" y="6470722"/>
            <a:ext cx="422988" cy="34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6DD62A5-12DE-F2E0-AB76-D379F564F482}"/>
              </a:ext>
            </a:extLst>
          </p:cNvPr>
          <p:cNvSpPr txBox="1"/>
          <p:nvPr/>
        </p:nvSpPr>
        <p:spPr>
          <a:xfrm>
            <a:off x="1250861" y="4727929"/>
            <a:ext cx="5536163" cy="573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0215">
              <a:lnSpc>
                <a:spcPct val="150000"/>
              </a:lnSpc>
              <a:buNone/>
              <a:tabLst>
                <a:tab pos="5941060" algn="r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Здесь в качестве меток после ключевых слов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case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можно использовать целые числа или константы времени компиляции. Как раз макроопределения в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define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вполне можно использовать и заменить числовые литералы более читаемыми именами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8F47BF1-0230-565D-727C-68CB582B9A96}"/>
              </a:ext>
            </a:extLst>
          </p:cNvPr>
          <p:cNvSpPr txBox="1"/>
          <p:nvPr/>
        </p:nvSpPr>
        <p:spPr>
          <a:xfrm>
            <a:off x="1250861" y="3252998"/>
            <a:ext cx="5511282" cy="56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0215">
              <a:lnSpc>
                <a:spcPct val="150000"/>
              </a:lnSpc>
              <a:buNone/>
              <a:tabLst>
                <a:tab pos="5941060" algn="r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Как видите,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макроимена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принято записывать заглавными буквами, хотя формально можно использовать и малые. Но лучше придерживаться этой традиции, чтобы выделять макросы на фоне остальных конструкций языка С.</a:t>
            </a:r>
          </a:p>
          <a:p>
            <a:pPr>
              <a:buNone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Итак, мы в программе ввели несколько новых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макроимен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3206513-EF1C-CF39-977F-41750D01CFE5}"/>
              </a:ext>
            </a:extLst>
          </p:cNvPr>
          <p:cNvSpPr txBox="1"/>
          <p:nvPr/>
        </p:nvSpPr>
        <p:spPr>
          <a:xfrm>
            <a:off x="576814" y="3250176"/>
            <a:ext cx="691200" cy="52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7F84889-D16B-F92B-A1FC-418CE03929E0}"/>
              </a:ext>
            </a:extLst>
          </p:cNvPr>
          <p:cNvSpPr txBox="1"/>
          <p:nvPr/>
        </p:nvSpPr>
        <p:spPr>
          <a:xfrm>
            <a:off x="576814" y="4725101"/>
            <a:ext cx="691200" cy="52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21E201-2264-00B8-E095-FC13464D4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071" y="468600"/>
            <a:ext cx="4434031" cy="59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81435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C7418-4FD6-9211-8D39-3C97EBEF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F8ED14A-7666-8C0B-7743-E04FE26E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9EC3FAE-43CC-5FB3-76E3-97BA0DEC8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609" y="468600"/>
            <a:ext cx="4686722" cy="5910349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0F1DA4D-1F32-2091-D2D2-AB9842480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D822FCB-3058-5A95-5C24-FD60363A497E}"/>
              </a:ext>
            </a:extLst>
          </p:cNvPr>
          <p:cNvSpPr txBox="1"/>
          <p:nvPr/>
        </p:nvSpPr>
        <p:spPr>
          <a:xfrm>
            <a:off x="1202425" y="1372975"/>
            <a:ext cx="5561045" cy="73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#undef</a:t>
            </a:r>
            <a:endParaRPr lang="en-US" sz="3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F7C272B-8341-C493-C901-C14B3B8B874D}"/>
              </a:ext>
            </a:extLst>
          </p:cNvPr>
          <p:cNvSpPr txBox="1"/>
          <p:nvPr/>
        </p:nvSpPr>
        <p:spPr>
          <a:xfrm>
            <a:off x="11472115" y="6470722"/>
            <a:ext cx="422988" cy="34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29D00D8-E438-FA30-6C95-918E1D9B65FF}"/>
              </a:ext>
            </a:extLst>
          </p:cNvPr>
          <p:cNvSpPr txBox="1"/>
          <p:nvPr/>
        </p:nvSpPr>
        <p:spPr>
          <a:xfrm>
            <a:off x="1250861" y="3252998"/>
            <a:ext cx="5511282" cy="56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0215" algn="just">
              <a:lnSpc>
                <a:spcPct val="150000"/>
              </a:lnSpc>
              <a:tabLst>
                <a:tab pos="5941060" algn="r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Также, разумеется, если какой-либо макрос ранее был определен, то переопределить его с новым поведением уже не получится. Если все же это требуется сделать, то сначала нужно отменить прежний макрос и прописать новый. Для отмены макроопределений используется директива </a:t>
            </a:r>
            <a:r>
              <a:rPr lang="ru-RU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#undef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например, так: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9A70124-2B30-1088-28DC-446B2E17F0B6}"/>
              </a:ext>
            </a:extLst>
          </p:cNvPr>
          <p:cNvSpPr txBox="1"/>
          <p:nvPr/>
        </p:nvSpPr>
        <p:spPr>
          <a:xfrm>
            <a:off x="576814" y="3250176"/>
            <a:ext cx="691200" cy="52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CFD1A0-374D-76B4-C483-AA41FA75A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789" y="468599"/>
            <a:ext cx="4355314" cy="2784399"/>
          </a:xfrm>
          <a:prstGeom prst="rect">
            <a:avLst/>
          </a:prstGeom>
        </p:spPr>
      </p:pic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45728A7-AB2C-C097-5A4A-3BBBA2395086}"/>
              </a:ext>
            </a:extLst>
          </p:cNvPr>
          <p:cNvSpPr/>
          <p:nvPr/>
        </p:nvSpPr>
        <p:spPr>
          <a:xfrm>
            <a:off x="7539789" y="3250176"/>
            <a:ext cx="4428542" cy="3139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256624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609" y="468600"/>
            <a:ext cx="4686722" cy="59103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202425" y="1372975"/>
            <a:ext cx="5561045" cy="73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макросов-функций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помощью 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#define</a:t>
            </a:r>
            <a:r>
              <a:rPr lang="ru-RU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##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11472115" y="6470722"/>
            <a:ext cx="422988" cy="34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7" name="Text 2"/>
          <p:cNvSpPr txBox="1"/>
          <p:nvPr/>
        </p:nvSpPr>
        <p:spPr>
          <a:xfrm>
            <a:off x="1250861" y="4727929"/>
            <a:ext cx="5536163" cy="573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Операторы # и ## в #define позволяют манипулировать параметрами. Первый возвращает текстовое представление, второй - соединяет лексемы. Это улучшает функциональность макросов, </a:t>
            </a: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риск ошибки становится более высоким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1250861" y="3252998"/>
            <a:ext cx="5511282" cy="56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Макросы-функции позволяют эффективно управлять параметрами, расширяя возможности #define. Использование параметров в скобках после имени макроса помогает задать действия над входными данными, как в случае c стандартными функциями.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76814" y="3250176"/>
            <a:ext cx="691200" cy="52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5"/>
          <p:cNvSpPr txBox="1"/>
          <p:nvPr/>
        </p:nvSpPr>
        <p:spPr>
          <a:xfrm>
            <a:off x="576814" y="4725101"/>
            <a:ext cx="691200" cy="52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A0EF3D-9395-9B0B-237F-73950EE8ABA3}"/>
              </a:ext>
            </a:extLst>
          </p:cNvPr>
          <p:cNvSpPr/>
          <p:nvPr/>
        </p:nvSpPr>
        <p:spPr>
          <a:xfrm>
            <a:off x="7555832" y="468598"/>
            <a:ext cx="4412499" cy="778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4E3B4C3-9D7B-1881-DFE7-03080BDD986C}"/>
              </a:ext>
            </a:extLst>
          </p:cNvPr>
          <p:cNvSpPr/>
          <p:nvPr/>
        </p:nvSpPr>
        <p:spPr>
          <a:xfrm>
            <a:off x="7483642" y="1247383"/>
            <a:ext cx="4484689" cy="51315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DFF89E1-25BD-CAF6-37BD-916524D26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736" y="1454711"/>
            <a:ext cx="4484689" cy="3938125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" y="150218"/>
            <a:ext cx="5363138" cy="655874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55920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300" dirty="0"/>
          </a:p>
        </p:txBody>
      </p:sp>
      <p:sp>
        <p:nvSpPr>
          <p:cNvPr id="6" name="Text 1"/>
          <p:cNvSpPr txBox="1"/>
          <p:nvPr/>
        </p:nvSpPr>
        <p:spPr>
          <a:xfrm>
            <a:off x="5682475" y="1114926"/>
            <a:ext cx="6145763" cy="413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Директива #include
</a:t>
            </a:r>
            <a:r>
              <a:rPr lang="en-US" sz="20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и использование</a:t>
            </a:r>
            <a:r>
              <a:rPr lang="en-US" sz="13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Директива #include интегрирует содержимое внешних файлов, улучшая организацию и управление кодом. Это необходимо для повторного использования кода и обеспечения совместимости с библиотеками.</a:t>
            </a: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Различия в синтаксисе</a:t>
            </a:r>
            <a:r>
              <a:rPr lang="en-US" sz="13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в #include обозначаются угловыми скобками или кавычками. Угловые скобки ищут файлы в системных каталогах, а кавычки - в локальном каталоге, что определяет порядок поиска файлов компилятором.</a:t>
            </a:r>
            <a:endParaRPr lang="en-US" sz="3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2505D2-183D-9D7D-558B-B4C76EDC61DE}"/>
              </a:ext>
            </a:extLst>
          </p:cNvPr>
          <p:cNvSpPr/>
          <p:nvPr/>
        </p:nvSpPr>
        <p:spPr>
          <a:xfrm>
            <a:off x="168442" y="150218"/>
            <a:ext cx="5150271" cy="6558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8EC853-F70E-444E-845A-ACF24FAE9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364" y="1238475"/>
            <a:ext cx="2191056" cy="2857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EF97B9-34E0-96D1-DE6B-5FB03ED0F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74" y="2070389"/>
            <a:ext cx="4344006" cy="2572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97CB342-AF0E-4668-49F9-9AFEECEA5C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66" y="3184795"/>
            <a:ext cx="3705742" cy="2152950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98" y="137160"/>
            <a:ext cx="4869180" cy="65836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567331" y="1278567"/>
            <a:ext cx="6432000" cy="62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работы #include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5570836" y="2185509"/>
            <a:ext cx="6107047" cy="190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угловых скобок в #include указывает компилятору искать файл сначала в системных каталогах, а затем в локальных. Это предпочтительно для стандартных библиотек, обеспечивая их корректное нахождение.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5570836" y="3859655"/>
            <a:ext cx="6107047" cy="190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Кавычки в #include заставляют компилятор искать файл сначала в локальном каталоге проекта, затем в системных каталогах. Это удобно для пользовательских заголовочных файлов, позволяет их правильное подключение.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1155920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75" y="4111360"/>
            <a:ext cx="10715700" cy="199872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559200" y="6358500"/>
            <a:ext cx="632100" cy="45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5" name="Text 1"/>
          <p:cNvSpPr txBox="1"/>
          <p:nvPr/>
        </p:nvSpPr>
        <p:spPr>
          <a:xfrm>
            <a:off x="322525" y="416400"/>
            <a:ext cx="11121600" cy="62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Условные директивы компиляции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643875" y="1535865"/>
            <a:ext cx="5262465" cy="42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директивы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Директивы условной компиляции, такие как #if, #ifdef, #else, #endif, управляют компиляцией кода по условиям. Они позволяют избежать лишнего кода и адаптировать программный код под разные параметры.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16414" y="1527126"/>
            <a:ext cx="5260200" cy="43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использования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Директивы применяется для удаления/добавления фрагментов кода. Вначале проверяется условие с #if, #elif и т.д., затем используется #else, заканчивая #endif. Это задает гибкую логику обработки кода.</a:t>
            </a:r>
            <a:endParaRPr lang="en-US" sz="2000" dirty="0"/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9815E-37F5-DDFD-5F30-980ADA82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CF839A2-A549-BF13-D8B2-01006427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968AF4B-0A41-ACDE-6C45-1358DD21B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98" y="137160"/>
            <a:ext cx="4869180" cy="658368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D39D253-AD21-068E-81B8-C734C99B7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FF4C331-54C9-ED44-4D16-32D94C3FF033}"/>
              </a:ext>
            </a:extLst>
          </p:cNvPr>
          <p:cNvSpPr txBox="1"/>
          <p:nvPr/>
        </p:nvSpPr>
        <p:spPr>
          <a:xfrm>
            <a:off x="5567331" y="1278567"/>
            <a:ext cx="6432000" cy="62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dirty="0"/>
              <a:t>Пример условных директив</a:t>
            </a:r>
            <a:endParaRPr lang="en-US" sz="3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85BB841-537F-2DB5-91C5-56CFFF7F484D}"/>
              </a:ext>
            </a:extLst>
          </p:cNvPr>
          <p:cNvSpPr txBox="1"/>
          <p:nvPr/>
        </p:nvSpPr>
        <p:spPr>
          <a:xfrm>
            <a:off x="5728918" y="2477424"/>
            <a:ext cx="6107047" cy="190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0215" algn="just">
              <a:lnSpc>
                <a:spcPct val="150000"/>
              </a:lnSpc>
              <a:tabLst>
                <a:tab pos="5941060" algn="r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Пишется программа, которую предполагается компилировать  с использованием компилятора Си, а также с использованием компилятора С++. Но в этих языках программирования имеются некоторые отличия в используемых конструкциях. Так вот, чтобы написать универсальный текст программы и иметь возможность компилировать его как С, так и С++, можно воспользоваться условными директивами следующим образом: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AD9D246-66D2-A8C3-B170-C025E706C774}"/>
              </a:ext>
            </a:extLst>
          </p:cNvPr>
          <p:cNvSpPr txBox="1"/>
          <p:nvPr/>
        </p:nvSpPr>
        <p:spPr>
          <a:xfrm>
            <a:off x="1155920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08DF80-C50C-7F5E-4BC0-ECD7D5BDC36B}"/>
              </a:ext>
            </a:extLst>
          </p:cNvPr>
          <p:cNvSpPr/>
          <p:nvPr/>
        </p:nvSpPr>
        <p:spPr>
          <a:xfrm>
            <a:off x="5414211" y="2662989"/>
            <a:ext cx="156625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58233F4-EF57-EFC4-02A5-9D96B595F2BB}"/>
              </a:ext>
            </a:extLst>
          </p:cNvPr>
          <p:cNvSpPr/>
          <p:nvPr/>
        </p:nvSpPr>
        <p:spPr>
          <a:xfrm>
            <a:off x="174498" y="137160"/>
            <a:ext cx="4869180" cy="6583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E5C24E7-883F-88D2-AA43-A0510E464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35" y="810054"/>
            <a:ext cx="4544059" cy="4620270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AE7861-227D-C566-7018-8BD90609B113}"/>
              </a:ext>
            </a:extLst>
          </p:cNvPr>
          <p:cNvSpPr/>
          <p:nvPr/>
        </p:nvSpPr>
        <p:spPr>
          <a:xfrm>
            <a:off x="5358063" y="4380576"/>
            <a:ext cx="227271" cy="841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553386"/>
      </p:ext>
    </p:extLst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25" y="2171618"/>
            <a:ext cx="6463500" cy="35359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300" dirty="0"/>
          </a:p>
        </p:txBody>
      </p:sp>
      <p:sp>
        <p:nvSpPr>
          <p:cNvPr id="5" name="Text 1"/>
          <p:cNvSpPr txBox="1"/>
          <p:nvPr/>
        </p:nvSpPr>
        <p:spPr>
          <a:xfrm>
            <a:off x="7839000" y="2707925"/>
            <a:ext cx="3867900" cy="246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директивы и их функции в условной компиляции.
Каждая директива имеет четко определенную функцию, что позволяет гибко управлять кодом.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1187100" y="444725"/>
            <a:ext cx="9817800" cy="61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условных директив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11849" y="6492300"/>
            <a:ext cx="5649300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Препроцессорные директивы в C/C++.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96496" y="2857252"/>
            <a:ext cx="3806700" cy="6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ext 1"/>
          <p:cNvSpPr txBox="1"/>
          <p:nvPr/>
        </p:nvSpPr>
        <p:spPr>
          <a:xfrm>
            <a:off x="593525" y="1222350"/>
            <a:ext cx="110049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применение директив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89875" y="2955038"/>
            <a:ext cx="3339600" cy="43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Директивы помогают создавать приложения, способные работать на различных платформах. Например, с помощью условной компиляции можно включать код, необходимый только для определенной операционной системы, оптимизируя программу.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7675" y="2955038"/>
            <a:ext cx="3862200" cy="190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директивы #define устраняет необходимость внесения изменений во множество строк кода. Одно изменение в макроопределении немедленно распространяется на всю программу, упрощая её поддержку.
</a:t>
            </a: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58825" y="2955038"/>
            <a:ext cx="3339600" cy="166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Препроцессорные директивы позволяют строить сложные механизмы компиляции, подбирая оптимальные пути в зависимости от условий среды. Это делает код более гибким и способным адаптироваться к изменяющимся условиям.
</a:t>
            </a: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0" y="6358500"/>
            <a:ext cx="632100" cy="148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300" dirty="0"/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825" y="2567100"/>
            <a:ext cx="9940500" cy="172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
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Директивы препроцессора C/C++ обеспечивают гибкость, модульность и управляемость кода, улучшая его читаемость и поддерживаемость.</a:t>
            </a:r>
            <a:endParaRPr lang="en-US" sz="4000" dirty="0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842</Words>
  <Application>Microsoft Office PowerPoint</Application>
  <PresentationFormat>Широкоэкранный</PresentationFormat>
  <Paragraphs>63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Андрей Ларин</cp:lastModifiedBy>
  <cp:revision>2</cp:revision>
  <dcterms:created xsi:type="dcterms:W3CDTF">2025-04-22T17:05:21Z</dcterms:created>
  <dcterms:modified xsi:type="dcterms:W3CDTF">2025-04-22T14:51:09Z</dcterms:modified>
</cp:coreProperties>
</file>