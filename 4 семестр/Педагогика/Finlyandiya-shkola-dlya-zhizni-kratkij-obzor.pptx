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Comfortaa"/>
      <p:regular r:id="rId14"/>
    </p:embeddedFont>
    <p:embeddedFont>
      <p:font typeface="Comfortaa"/>
      <p:regular r:id="rId15"/>
    </p:embeddedFont>
    <p:embeddedFont>
      <p:font typeface="Raleway Medium"/>
      <p:regular r:id="rId16"/>
    </p:embeddedFont>
    <p:embeddedFont>
      <p:font typeface="Raleway Medium"/>
      <p:regular r:id="rId17"/>
    </p:embeddedFont>
    <p:embeddedFont>
      <p:font typeface="Raleway Medium"/>
      <p:regular r:id="rId18"/>
    </p:embeddedFont>
    <p:embeddedFont>
      <p:font typeface="Raleway Medium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05871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Финляндия: школа для жизни — краткий обзор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800594"/>
            <a:ext cx="7415927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Финская система воспитания и образования ориентирована на счастливое, осмысленное развитие каждого ребёнка. Здесь центральные ценности — равенство, доверие и индивидуальный подход, а цель школы — воспитать мыслящего, самостоятельного человека, а не собрать набор фактов.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768" y="837724"/>
            <a:ext cx="8031599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Доклад: система организации воспитания в Финляндии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4768" y="1342668"/>
            <a:ext cx="143708" cy="1437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04768" y="1553647"/>
            <a:ext cx="2884408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5" name="Text 2"/>
          <p:cNvSpPr/>
          <p:nvPr/>
        </p:nvSpPr>
        <p:spPr>
          <a:xfrm>
            <a:off x="2904768" y="1655921"/>
            <a:ext cx="15979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1. Равенство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904768" y="1905833"/>
            <a:ext cx="2884408" cy="1092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Все школы получают сопоставимое финансирование и ресурсы — нет деления на «элитные» и «слабые». Доступность образования гарантирована для всех детей независимо от места проживания.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2877" y="1342668"/>
            <a:ext cx="143708" cy="1437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72877" y="1553647"/>
            <a:ext cx="2884408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9" name="Text 5"/>
          <p:cNvSpPr/>
          <p:nvPr/>
        </p:nvSpPr>
        <p:spPr>
          <a:xfrm>
            <a:off x="5872877" y="1655921"/>
            <a:ext cx="159793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2. Доверие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872877" y="1905833"/>
            <a:ext cx="2884408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Система построена на доверии к учителям и ученикам: минимальный контроль, отсутствие частых инспекций и обязательных аттестаций, свобода педагогического подхода.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0986" y="1342668"/>
            <a:ext cx="143708" cy="1437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840986" y="1553647"/>
            <a:ext cx="2884527" cy="15240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3" name="Text 8"/>
          <p:cNvSpPr/>
          <p:nvPr/>
        </p:nvSpPr>
        <p:spPr>
          <a:xfrm>
            <a:off x="8840986" y="1655921"/>
            <a:ext cx="2357318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3. Индивидуальный подход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840986" y="1905833"/>
            <a:ext cx="2884527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Нет ярлыков «отличник/двоечник» — ребёнка воспринимают как личность с индивидуальным темпом развития; учитель — наставник и сопровождающий.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904768" y="3271835"/>
            <a:ext cx="8820745" cy="25479"/>
          </a:xfrm>
          <a:prstGeom prst="rect">
            <a:avLst/>
          </a:prstGeom>
          <a:solidFill>
            <a:srgbClr val="D7D4CC">
              <a:alpha val="5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4768" y="3485555"/>
            <a:ext cx="2859167" cy="38121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22313" y="4484965"/>
            <a:ext cx="4572238" cy="239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Структура: от детсада до университета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22313" y="4808339"/>
            <a:ext cx="5610701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Дошкольное образование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акцент на игре, социализации и здоровье, а не на академике.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Peruskoulu (1–9 классы)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обязательные 9 лет, обучение в тёплой поддерживающей среде.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Старшая ступень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выбор между профессиональными колледжами и лицеями/старшими классами.</a:t>
            </a:r>
            <a:endParaRPr lang="en-US" sz="110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Высшее образование</a:t>
            </a:r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университеты и прикладные университеты, поступление после лицея.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1417" y="1639848"/>
            <a:ext cx="11001732" cy="467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Методы обучения — как это работает на практике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417" y="2466142"/>
            <a:ext cx="887016" cy="5481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72628" y="2466142"/>
            <a:ext cx="1947505" cy="584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Феноменальное обучение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972628" y="3158371"/>
            <a:ext cx="1947505" cy="3431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Темы изучают комплексно: дети исследуют явления через разные предметы (география, биология, история, экономика), что развивает системное мышление.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328" y="2466142"/>
            <a:ext cx="887016" cy="548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5538" y="2466142"/>
            <a:ext cx="1947505" cy="584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Проектная деятельность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255538" y="3158371"/>
            <a:ext cx="1947505" cy="2807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Знания сразу превращаются в практику — проекты, исследования, технологические и творческие задания в командах.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8" y="2466142"/>
            <a:ext cx="887016" cy="5481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38448" y="2466142"/>
            <a:ext cx="1947505" cy="87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Отсутствие стрессовых оценок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538448" y="3450669"/>
            <a:ext cx="1947505" cy="249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Оценки заменяют подробные письменные отзывы; домашние задания минимальны — обычно не более 30 минут в день.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0148" y="2466142"/>
            <a:ext cx="887016" cy="5481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21358" y="2466142"/>
            <a:ext cx="1947505" cy="584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Свобода и игра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1821358" y="3158371"/>
            <a:ext cx="1947505" cy="2807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Уроки часто на свежем воздухе; поощряется выражение мнений и обсуждение — обучение через опыт и исследование.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904" y="1295757"/>
            <a:ext cx="10917912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Практические навыки и повседневная грамотность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904" y="2215634"/>
            <a:ext cx="8101489" cy="4521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2505" y="2433161"/>
            <a:ext cx="4128492" cy="2140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С 7 класса включён предмет «домашняя экономика»: готовка, уборка, планирование бюджета. На трудовом обучении дети осваивают шитьё, работу с деревом и базовые ремесленные навыки — всё вместе формирует независимость и бытовую грамотность.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562505" y="4769882"/>
            <a:ext cx="4128492" cy="1710571"/>
          </a:xfrm>
          <a:prstGeom prst="roundRect">
            <a:avLst>
              <a:gd name="adj" fmla="val 18210"/>
            </a:avLst>
          </a:prstGeom>
          <a:solidFill>
            <a:srgbClr val="4D400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150" y="5076349"/>
            <a:ext cx="259556" cy="2076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37351" y="4996458"/>
            <a:ext cx="3246001" cy="122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Практические умения идут вровень с академическими: школа учит жить, а не только сдавать экзамены.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42267"/>
            <a:ext cx="5241369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Роль учителя и семьи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64037" y="2984540"/>
            <a:ext cx="4136231" cy="3302794"/>
          </a:xfrm>
          <a:prstGeom prst="roundRect">
            <a:avLst>
              <a:gd name="adj" fmla="val 11213"/>
            </a:avLst>
          </a:prstGeom>
          <a:solidFill>
            <a:srgbClr val="46464A"/>
          </a:solidFill>
          <a:ln/>
        </p:spPr>
      </p:sp>
      <p:sp>
        <p:nvSpPr>
          <p:cNvPr id="4" name="Text 2"/>
          <p:cNvSpPr/>
          <p:nvPr/>
        </p:nvSpPr>
        <p:spPr>
          <a:xfrm>
            <a:off x="1110853" y="3231356"/>
            <a:ext cx="3642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Учитель — престижная профессия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110853" y="4065270"/>
            <a:ext cx="36425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Высокие входные требования (часто магистратура), уважение в обществе, автономия в методах преподавания.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084" y="2984540"/>
            <a:ext cx="4136231" cy="3302794"/>
          </a:xfrm>
          <a:prstGeom prst="roundRect">
            <a:avLst>
              <a:gd name="adj" fmla="val 11213"/>
            </a:avLst>
          </a:prstGeom>
          <a:solidFill>
            <a:srgbClr val="46464A"/>
          </a:solidFill>
          <a:ln/>
        </p:spPr>
      </p:sp>
      <p:sp>
        <p:nvSpPr>
          <p:cNvPr id="7" name="Text 5"/>
          <p:cNvSpPr/>
          <p:nvPr/>
        </p:nvSpPr>
        <p:spPr>
          <a:xfrm>
            <a:off x="5493901" y="3231356"/>
            <a:ext cx="3642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Учитель как наставник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493901" y="4065270"/>
            <a:ext cx="36425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Педагог — не судья, а партнёр, который сопровождает развитие ребёнка, даёт обратную связь и поддерживает мотивацию.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2984540"/>
            <a:ext cx="4136231" cy="3302794"/>
          </a:xfrm>
          <a:prstGeom prst="roundRect">
            <a:avLst>
              <a:gd name="adj" fmla="val 11213"/>
            </a:avLst>
          </a:prstGeom>
          <a:solidFill>
            <a:srgbClr val="46464A"/>
          </a:solidFill>
          <a:ln/>
        </p:spPr>
      </p:sp>
      <p:sp>
        <p:nvSpPr>
          <p:cNvPr id="10" name="Text 8"/>
          <p:cNvSpPr/>
          <p:nvPr/>
        </p:nvSpPr>
        <p:spPr>
          <a:xfrm>
            <a:off x="9876949" y="3231356"/>
            <a:ext cx="3642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Семья как соавтор воспитания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9876949" y="4065270"/>
            <a:ext cx="36425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Родители активно вовлечены, общество ценит семейную ответственность за воспитание и развитие детей.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7517" y="1365052"/>
            <a:ext cx="8344257" cy="451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Результаты и международное признание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517" y="2254687"/>
            <a:ext cx="7922538" cy="4421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2975" y="2334339"/>
            <a:ext cx="4037290" cy="2664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Финские школьники стабильно показывают высокие результаты в международных исследованиях PISA по чтению, наукам и математике, при этом затрачивая меньше времени на домашние задания и учебу. Модель демонстрирует: качество образования связана с культурой доверия и уходом за личностью ученика.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512975" y="5149572"/>
            <a:ext cx="4037290" cy="1539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Высокие показатели PISA при меньшей академической нагрузке.</a:t>
            </a:r>
            <a:endParaRPr lang="en-US" sz="1550" dirty="0"/>
          </a:p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Многие страны пытаются перенять практики — результаты частично зависят от культурного контекста.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58835"/>
            <a:ext cx="129023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Выводы и практические рекомендации для родителей и педагогов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864037" y="2749629"/>
            <a:ext cx="4136231" cy="740569"/>
          </a:xfrm>
          <a:prstGeom prst="roundRect">
            <a:avLst>
              <a:gd name="adj" fmla="val 480062"/>
            </a:avLst>
          </a:prstGeom>
          <a:solidFill>
            <a:srgbClr val="4646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7010" y="2934772"/>
            <a:ext cx="370284" cy="3702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853" y="3737015"/>
            <a:ext cx="3642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1. Ставьте личность ребёнка в центр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110853" y="4570928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Поддерживайте интересы, уважайте темп развития и поощряйте любопытство.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7084" y="2749629"/>
            <a:ext cx="4136231" cy="740569"/>
          </a:xfrm>
          <a:prstGeom prst="roundRect">
            <a:avLst>
              <a:gd name="adj" fmla="val 480062"/>
            </a:avLst>
          </a:prstGeom>
          <a:solidFill>
            <a:srgbClr val="4646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058" y="2934772"/>
            <a:ext cx="370284" cy="370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93901" y="3737015"/>
            <a:ext cx="36425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2. Партнёрство семьи и школы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493901" y="4570928"/>
            <a:ext cx="36425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Обменивайтесь наблюдениями, работайте сообща над мотивацией и эмоциональной поддержкой.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9630132" y="2749629"/>
            <a:ext cx="4136231" cy="740569"/>
          </a:xfrm>
          <a:prstGeom prst="roundRect">
            <a:avLst>
              <a:gd name="adj" fmla="val 480062"/>
            </a:avLst>
          </a:prstGeom>
          <a:solidFill>
            <a:srgbClr val="4646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3106" y="2934772"/>
            <a:ext cx="370284" cy="3702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6949" y="3737015"/>
            <a:ext cx="314015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3. Учите через опыт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9876949" y="4228028"/>
            <a:ext cx="364259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Проекты, практика и исследования укрепляют знания и формируют навыки, готовящие к жизни.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64037" y="667559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2026-04-02T06:38:35Z</dcterms:created>
  <dcterms:modified xsi:type="dcterms:W3CDTF">2026-04-02T06:38:35Z</dcterms:modified>
</cp:coreProperties>
</file>