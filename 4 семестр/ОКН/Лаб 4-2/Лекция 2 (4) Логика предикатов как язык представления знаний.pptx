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321" r:id="rId6"/>
    <p:sldId id="264" r:id="rId7"/>
    <p:sldId id="322" r:id="rId8"/>
    <p:sldId id="323" r:id="rId9"/>
    <p:sldId id="263" r:id="rId10"/>
    <p:sldId id="268" r:id="rId11"/>
    <p:sldId id="266" r:id="rId12"/>
    <p:sldId id="269" r:id="rId13"/>
    <p:sldId id="270" r:id="rId14"/>
    <p:sldId id="273" r:id="rId15"/>
    <p:sldId id="274" r:id="rId16"/>
    <p:sldId id="276" r:id="rId17"/>
    <p:sldId id="275" r:id="rId18"/>
    <p:sldId id="277" r:id="rId19"/>
    <p:sldId id="295" r:id="rId20"/>
    <p:sldId id="296" r:id="rId21"/>
    <p:sldId id="297" r:id="rId22"/>
    <p:sldId id="298" r:id="rId23"/>
    <p:sldId id="299" r:id="rId24"/>
    <p:sldId id="308" r:id="rId25"/>
    <p:sldId id="310" r:id="rId26"/>
    <p:sldId id="309" r:id="rId27"/>
    <p:sldId id="257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7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3C0F3B-9B40-4F64-BF32-3C5D6F842469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A2E3A2E-8942-491C-93FD-4B4448E15BCC}">
      <dgm:prSet phldrT="[Текст]"/>
      <dgm:spPr/>
      <dgm:t>
        <a:bodyPr/>
        <a:lstStyle/>
        <a:p>
          <a:r>
            <a:rPr lang="en-US" dirty="0"/>
            <a:t>IV</a:t>
          </a:r>
          <a:r>
            <a:rPr lang="ru-RU" dirty="0"/>
            <a:t> в до </a:t>
          </a:r>
          <a:r>
            <a:rPr lang="ru-RU" dirty="0" err="1"/>
            <a:t>н.в</a:t>
          </a:r>
          <a:r>
            <a:rPr lang="ru-RU" dirty="0"/>
            <a:t>.</a:t>
          </a:r>
        </a:p>
        <a:p>
          <a:r>
            <a:rPr lang="ru-RU" dirty="0"/>
            <a:t>Аристотелева</a:t>
          </a:r>
          <a:br>
            <a:rPr lang="ru-RU" dirty="0"/>
          </a:br>
          <a:r>
            <a:rPr lang="ru-RU" dirty="0"/>
            <a:t>логика</a:t>
          </a:r>
        </a:p>
      </dgm:t>
    </dgm:pt>
    <dgm:pt modelId="{26FDADCF-51A3-497C-B841-752B4E0F78DE}" type="parTrans" cxnId="{8A514DA3-593F-4105-A606-2660295B5C32}">
      <dgm:prSet/>
      <dgm:spPr/>
      <dgm:t>
        <a:bodyPr/>
        <a:lstStyle/>
        <a:p>
          <a:endParaRPr lang="ru-RU"/>
        </a:p>
      </dgm:t>
    </dgm:pt>
    <dgm:pt modelId="{028ECDB6-9BC8-4C63-BAA5-8FF2253B3991}" type="sibTrans" cxnId="{8A514DA3-593F-4105-A606-2660295B5C32}">
      <dgm:prSet/>
      <dgm:spPr/>
      <dgm:t>
        <a:bodyPr/>
        <a:lstStyle/>
        <a:p>
          <a:endParaRPr lang="ru-RU"/>
        </a:p>
      </dgm:t>
    </dgm:pt>
    <dgm:pt modelId="{8A2B0917-ACB5-4D4B-BA7A-96803B26142A}">
      <dgm:prSet phldrT="[Текст]"/>
      <dgm:spPr/>
      <dgm:t>
        <a:bodyPr/>
        <a:lstStyle/>
        <a:p>
          <a:r>
            <a:rPr lang="ru-RU" dirty="0"/>
            <a:t>60-е ХХ века</a:t>
          </a:r>
        </a:p>
        <a:p>
          <a:r>
            <a:rPr lang="ru-RU" dirty="0"/>
            <a:t>Логика предикатов</a:t>
          </a:r>
        </a:p>
      </dgm:t>
    </dgm:pt>
    <dgm:pt modelId="{6D890D4E-6077-47A1-B7B8-3E89ADE195FB}" type="parTrans" cxnId="{7C979213-157B-4C92-8761-B8E11196392B}">
      <dgm:prSet/>
      <dgm:spPr/>
      <dgm:t>
        <a:bodyPr/>
        <a:lstStyle/>
        <a:p>
          <a:endParaRPr lang="ru-RU"/>
        </a:p>
      </dgm:t>
    </dgm:pt>
    <dgm:pt modelId="{1A993832-1F09-4324-993B-FF0BA1DFD74B}" type="sibTrans" cxnId="{7C979213-157B-4C92-8761-B8E11196392B}">
      <dgm:prSet/>
      <dgm:spPr/>
      <dgm:t>
        <a:bodyPr/>
        <a:lstStyle/>
        <a:p>
          <a:endParaRPr lang="ru-RU"/>
        </a:p>
      </dgm:t>
    </dgm:pt>
    <dgm:pt modelId="{CDC75A15-EB81-4DA3-8463-139BB1772DD1}">
      <dgm:prSet phldrT="[Текст]"/>
      <dgm:spPr/>
      <dgm:t>
        <a:bodyPr/>
        <a:lstStyle/>
        <a:p>
          <a:r>
            <a:rPr lang="ru-RU" dirty="0"/>
            <a:t>20-е </a:t>
          </a:r>
          <a:r>
            <a:rPr lang="en-US" dirty="0"/>
            <a:t>XXI</a:t>
          </a:r>
          <a:r>
            <a:rPr lang="ru-RU" dirty="0"/>
            <a:t> века</a:t>
          </a:r>
        </a:p>
        <a:p>
          <a:r>
            <a:rPr lang="ru-RU" dirty="0"/>
            <a:t>Гибридные системы</a:t>
          </a:r>
        </a:p>
      </dgm:t>
    </dgm:pt>
    <dgm:pt modelId="{E4DA120A-B705-45A8-A156-80374E0DE644}" type="parTrans" cxnId="{8596C06D-A78C-420F-A7FB-FD79EEA98156}">
      <dgm:prSet/>
      <dgm:spPr/>
      <dgm:t>
        <a:bodyPr/>
        <a:lstStyle/>
        <a:p>
          <a:endParaRPr lang="ru-RU"/>
        </a:p>
      </dgm:t>
    </dgm:pt>
    <dgm:pt modelId="{33208C1B-8254-4C49-8465-AE86284C122C}" type="sibTrans" cxnId="{8596C06D-A78C-420F-A7FB-FD79EEA98156}">
      <dgm:prSet/>
      <dgm:spPr/>
      <dgm:t>
        <a:bodyPr/>
        <a:lstStyle/>
        <a:p>
          <a:endParaRPr lang="ru-RU"/>
        </a:p>
      </dgm:t>
    </dgm:pt>
    <dgm:pt modelId="{9355FE98-6281-413D-A16B-9CCB96381F30}" type="pres">
      <dgm:prSet presAssocID="{343C0F3B-9B40-4F64-BF32-3C5D6F842469}" presName="rootnode" presStyleCnt="0">
        <dgm:presLayoutVars>
          <dgm:chMax/>
          <dgm:chPref/>
          <dgm:dir/>
          <dgm:animLvl val="lvl"/>
        </dgm:presLayoutVars>
      </dgm:prSet>
      <dgm:spPr/>
    </dgm:pt>
    <dgm:pt modelId="{3E88A942-435C-4B65-B286-F19A526AEE2E}" type="pres">
      <dgm:prSet presAssocID="{5A2E3A2E-8942-491C-93FD-4B4448E15BCC}" presName="composite" presStyleCnt="0"/>
      <dgm:spPr/>
    </dgm:pt>
    <dgm:pt modelId="{94A6E910-51F8-4CCB-A29C-7190EA7AAC25}" type="pres">
      <dgm:prSet presAssocID="{5A2E3A2E-8942-491C-93FD-4B4448E15BCC}" presName="LShape" presStyleLbl="alignNode1" presStyleIdx="0" presStyleCnt="5"/>
      <dgm:spPr/>
    </dgm:pt>
    <dgm:pt modelId="{A4814064-D19B-4B56-BAEE-99DE99D74520}" type="pres">
      <dgm:prSet presAssocID="{5A2E3A2E-8942-491C-93FD-4B4448E15BCC}" presName="ParentText" presStyleLbl="revTx" presStyleIdx="0" presStyleCnt="3" custScaleY="53987" custLinFactNeighborX="47679" custLinFactNeighborY="5232">
        <dgm:presLayoutVars>
          <dgm:chMax val="0"/>
          <dgm:chPref val="0"/>
          <dgm:bulletEnabled val="1"/>
        </dgm:presLayoutVars>
      </dgm:prSet>
      <dgm:spPr/>
    </dgm:pt>
    <dgm:pt modelId="{F903C98B-90D2-4F51-800B-EEE46EAE49D7}" type="pres">
      <dgm:prSet presAssocID="{5A2E3A2E-8942-491C-93FD-4B4448E15BCC}" presName="Triangle" presStyleLbl="alignNode1" presStyleIdx="1" presStyleCnt="5"/>
      <dgm:spPr/>
    </dgm:pt>
    <dgm:pt modelId="{551CFBAC-C2E3-4561-A763-1B33C01B91FB}" type="pres">
      <dgm:prSet presAssocID="{028ECDB6-9BC8-4C63-BAA5-8FF2253B3991}" presName="sibTrans" presStyleCnt="0"/>
      <dgm:spPr/>
    </dgm:pt>
    <dgm:pt modelId="{42B79BA5-5CA0-44DC-845E-84A95B9C593F}" type="pres">
      <dgm:prSet presAssocID="{028ECDB6-9BC8-4C63-BAA5-8FF2253B3991}" presName="space" presStyleCnt="0"/>
      <dgm:spPr/>
    </dgm:pt>
    <dgm:pt modelId="{7F6E0C6D-ACB0-4B4D-B76A-AF727D35736B}" type="pres">
      <dgm:prSet presAssocID="{8A2B0917-ACB5-4D4B-BA7A-96803B26142A}" presName="composite" presStyleCnt="0"/>
      <dgm:spPr/>
    </dgm:pt>
    <dgm:pt modelId="{9F6B4B41-8D7F-488D-952C-95CFC4518F6A}" type="pres">
      <dgm:prSet presAssocID="{8A2B0917-ACB5-4D4B-BA7A-96803B26142A}" presName="LShape" presStyleLbl="alignNode1" presStyleIdx="2" presStyleCnt="5"/>
      <dgm:spPr/>
    </dgm:pt>
    <dgm:pt modelId="{FC9ED474-D92D-4869-8183-FF9B1E992678}" type="pres">
      <dgm:prSet presAssocID="{8A2B0917-ACB5-4D4B-BA7A-96803B26142A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EB27AD9F-E95B-45C8-A3DF-3BFD54179332}" type="pres">
      <dgm:prSet presAssocID="{8A2B0917-ACB5-4D4B-BA7A-96803B26142A}" presName="Triangle" presStyleLbl="alignNode1" presStyleIdx="3" presStyleCnt="5"/>
      <dgm:spPr/>
    </dgm:pt>
    <dgm:pt modelId="{9182C832-3BC4-4C1A-9F62-E10DDBA0AE57}" type="pres">
      <dgm:prSet presAssocID="{1A993832-1F09-4324-993B-FF0BA1DFD74B}" presName="sibTrans" presStyleCnt="0"/>
      <dgm:spPr/>
    </dgm:pt>
    <dgm:pt modelId="{524465B2-FE1B-4262-A315-450375307A03}" type="pres">
      <dgm:prSet presAssocID="{1A993832-1F09-4324-993B-FF0BA1DFD74B}" presName="space" presStyleCnt="0"/>
      <dgm:spPr/>
    </dgm:pt>
    <dgm:pt modelId="{A8A72FF9-6EAB-4B32-8213-AD50E8F7B498}" type="pres">
      <dgm:prSet presAssocID="{CDC75A15-EB81-4DA3-8463-139BB1772DD1}" presName="composite" presStyleCnt="0"/>
      <dgm:spPr/>
    </dgm:pt>
    <dgm:pt modelId="{89684BBB-5F57-490F-B1BF-CEBAD8A8B561}" type="pres">
      <dgm:prSet presAssocID="{CDC75A15-EB81-4DA3-8463-139BB1772DD1}" presName="LShape" presStyleLbl="alignNode1" presStyleIdx="4" presStyleCnt="5"/>
      <dgm:spPr/>
    </dgm:pt>
    <dgm:pt modelId="{AF6B99E7-9D30-4BC7-BEA3-F03B9955D2A5}" type="pres">
      <dgm:prSet presAssocID="{CDC75A15-EB81-4DA3-8463-139BB1772DD1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C979213-157B-4C92-8761-B8E11196392B}" srcId="{343C0F3B-9B40-4F64-BF32-3C5D6F842469}" destId="{8A2B0917-ACB5-4D4B-BA7A-96803B26142A}" srcOrd="1" destOrd="0" parTransId="{6D890D4E-6077-47A1-B7B8-3E89ADE195FB}" sibTransId="{1A993832-1F09-4324-993B-FF0BA1DFD74B}"/>
    <dgm:cxn modelId="{C0CF1330-7768-43E1-9AA2-B89394192660}" type="presOf" srcId="{5A2E3A2E-8942-491C-93FD-4B4448E15BCC}" destId="{A4814064-D19B-4B56-BAEE-99DE99D74520}" srcOrd="0" destOrd="0" presId="urn:microsoft.com/office/officeart/2009/3/layout/StepUpProcess"/>
    <dgm:cxn modelId="{25E52F34-E20B-4DDE-ABFA-11364C57B29A}" type="presOf" srcId="{8A2B0917-ACB5-4D4B-BA7A-96803B26142A}" destId="{FC9ED474-D92D-4869-8183-FF9B1E992678}" srcOrd="0" destOrd="0" presId="urn:microsoft.com/office/officeart/2009/3/layout/StepUpProcess"/>
    <dgm:cxn modelId="{8596C06D-A78C-420F-A7FB-FD79EEA98156}" srcId="{343C0F3B-9B40-4F64-BF32-3C5D6F842469}" destId="{CDC75A15-EB81-4DA3-8463-139BB1772DD1}" srcOrd="2" destOrd="0" parTransId="{E4DA120A-B705-45A8-A156-80374E0DE644}" sibTransId="{33208C1B-8254-4C49-8465-AE86284C122C}"/>
    <dgm:cxn modelId="{B4CC0F9F-0971-4232-843D-FF3A0858AB58}" type="presOf" srcId="{CDC75A15-EB81-4DA3-8463-139BB1772DD1}" destId="{AF6B99E7-9D30-4BC7-BEA3-F03B9955D2A5}" srcOrd="0" destOrd="0" presId="urn:microsoft.com/office/officeart/2009/3/layout/StepUpProcess"/>
    <dgm:cxn modelId="{8A514DA3-593F-4105-A606-2660295B5C32}" srcId="{343C0F3B-9B40-4F64-BF32-3C5D6F842469}" destId="{5A2E3A2E-8942-491C-93FD-4B4448E15BCC}" srcOrd="0" destOrd="0" parTransId="{26FDADCF-51A3-497C-B841-752B4E0F78DE}" sibTransId="{028ECDB6-9BC8-4C63-BAA5-8FF2253B3991}"/>
    <dgm:cxn modelId="{DB0D1FA6-02FE-449B-A694-DA2421E0E88A}" type="presOf" srcId="{343C0F3B-9B40-4F64-BF32-3C5D6F842469}" destId="{9355FE98-6281-413D-A16B-9CCB96381F30}" srcOrd="0" destOrd="0" presId="urn:microsoft.com/office/officeart/2009/3/layout/StepUpProcess"/>
    <dgm:cxn modelId="{914D5CC0-907B-4D6E-93E7-30AB50E7D323}" type="presParOf" srcId="{9355FE98-6281-413D-A16B-9CCB96381F30}" destId="{3E88A942-435C-4B65-B286-F19A526AEE2E}" srcOrd="0" destOrd="0" presId="urn:microsoft.com/office/officeart/2009/3/layout/StepUpProcess"/>
    <dgm:cxn modelId="{497C315D-1000-4B8C-8029-CFC8E36B8463}" type="presParOf" srcId="{3E88A942-435C-4B65-B286-F19A526AEE2E}" destId="{94A6E910-51F8-4CCB-A29C-7190EA7AAC25}" srcOrd="0" destOrd="0" presId="urn:microsoft.com/office/officeart/2009/3/layout/StepUpProcess"/>
    <dgm:cxn modelId="{31DAF96C-540E-44AB-A18D-F2230325F8DB}" type="presParOf" srcId="{3E88A942-435C-4B65-B286-F19A526AEE2E}" destId="{A4814064-D19B-4B56-BAEE-99DE99D74520}" srcOrd="1" destOrd="0" presId="urn:microsoft.com/office/officeart/2009/3/layout/StepUpProcess"/>
    <dgm:cxn modelId="{681EE9C8-FFBD-41E5-BD83-2A07364622CA}" type="presParOf" srcId="{3E88A942-435C-4B65-B286-F19A526AEE2E}" destId="{F903C98B-90D2-4F51-800B-EEE46EAE49D7}" srcOrd="2" destOrd="0" presId="urn:microsoft.com/office/officeart/2009/3/layout/StepUpProcess"/>
    <dgm:cxn modelId="{2D92F5DF-B7F4-4142-9936-CA3130187E17}" type="presParOf" srcId="{9355FE98-6281-413D-A16B-9CCB96381F30}" destId="{551CFBAC-C2E3-4561-A763-1B33C01B91FB}" srcOrd="1" destOrd="0" presId="urn:microsoft.com/office/officeart/2009/3/layout/StepUpProcess"/>
    <dgm:cxn modelId="{B8482DC1-3948-4FEB-ADC7-8DAE7A4F29F0}" type="presParOf" srcId="{551CFBAC-C2E3-4561-A763-1B33C01B91FB}" destId="{42B79BA5-5CA0-44DC-845E-84A95B9C593F}" srcOrd="0" destOrd="0" presId="urn:microsoft.com/office/officeart/2009/3/layout/StepUpProcess"/>
    <dgm:cxn modelId="{7C97446D-5256-43EF-8583-90B7CD9AC47A}" type="presParOf" srcId="{9355FE98-6281-413D-A16B-9CCB96381F30}" destId="{7F6E0C6D-ACB0-4B4D-B76A-AF727D35736B}" srcOrd="2" destOrd="0" presId="urn:microsoft.com/office/officeart/2009/3/layout/StepUpProcess"/>
    <dgm:cxn modelId="{42D6CC23-C969-4B3C-BF33-582049A31CD7}" type="presParOf" srcId="{7F6E0C6D-ACB0-4B4D-B76A-AF727D35736B}" destId="{9F6B4B41-8D7F-488D-952C-95CFC4518F6A}" srcOrd="0" destOrd="0" presId="urn:microsoft.com/office/officeart/2009/3/layout/StepUpProcess"/>
    <dgm:cxn modelId="{9093E7CD-3690-48CF-AC0A-9C1A0BC7E6DD}" type="presParOf" srcId="{7F6E0C6D-ACB0-4B4D-B76A-AF727D35736B}" destId="{FC9ED474-D92D-4869-8183-FF9B1E992678}" srcOrd="1" destOrd="0" presId="urn:microsoft.com/office/officeart/2009/3/layout/StepUpProcess"/>
    <dgm:cxn modelId="{87D40A21-085A-436E-B80D-B0214F24479E}" type="presParOf" srcId="{7F6E0C6D-ACB0-4B4D-B76A-AF727D35736B}" destId="{EB27AD9F-E95B-45C8-A3DF-3BFD54179332}" srcOrd="2" destOrd="0" presId="urn:microsoft.com/office/officeart/2009/3/layout/StepUpProcess"/>
    <dgm:cxn modelId="{4654ABF2-B552-4264-8900-F12DDC004C84}" type="presParOf" srcId="{9355FE98-6281-413D-A16B-9CCB96381F30}" destId="{9182C832-3BC4-4C1A-9F62-E10DDBA0AE57}" srcOrd="3" destOrd="0" presId="urn:microsoft.com/office/officeart/2009/3/layout/StepUpProcess"/>
    <dgm:cxn modelId="{13471C36-C5EF-4CE5-87F4-7CE1EB01A418}" type="presParOf" srcId="{9182C832-3BC4-4C1A-9F62-E10DDBA0AE57}" destId="{524465B2-FE1B-4262-A315-450375307A03}" srcOrd="0" destOrd="0" presId="urn:microsoft.com/office/officeart/2009/3/layout/StepUpProcess"/>
    <dgm:cxn modelId="{5D6CEA5E-4176-48A7-B109-EBD375542029}" type="presParOf" srcId="{9355FE98-6281-413D-A16B-9CCB96381F30}" destId="{A8A72FF9-6EAB-4B32-8213-AD50E8F7B498}" srcOrd="4" destOrd="0" presId="urn:microsoft.com/office/officeart/2009/3/layout/StepUpProcess"/>
    <dgm:cxn modelId="{27EEDA76-5056-410B-907E-C8D2871519A1}" type="presParOf" srcId="{A8A72FF9-6EAB-4B32-8213-AD50E8F7B498}" destId="{89684BBB-5F57-490F-B1BF-CEBAD8A8B561}" srcOrd="0" destOrd="0" presId="urn:microsoft.com/office/officeart/2009/3/layout/StepUpProcess"/>
    <dgm:cxn modelId="{213E6B9B-E323-4196-86CE-4F59D7A70ED0}" type="presParOf" srcId="{A8A72FF9-6EAB-4B32-8213-AD50E8F7B498}" destId="{AF6B99E7-9D30-4BC7-BEA3-F03B9955D2A5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6E910-51F8-4CCB-A29C-7190EA7AAC25}">
      <dsp:nvSpPr>
        <dsp:cNvPr id="0" name=""/>
        <dsp:cNvSpPr/>
      </dsp:nvSpPr>
      <dsp:spPr>
        <a:xfrm rot="5400000">
          <a:off x="655603" y="1258587"/>
          <a:ext cx="1966152" cy="32716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14064-D19B-4B56-BAEE-99DE99D74520}">
      <dsp:nvSpPr>
        <dsp:cNvPr id="0" name=""/>
        <dsp:cNvSpPr/>
      </dsp:nvSpPr>
      <dsp:spPr>
        <a:xfrm>
          <a:off x="1735673" y="2953589"/>
          <a:ext cx="2953648" cy="1397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IV</a:t>
          </a:r>
          <a:r>
            <a:rPr lang="ru-RU" sz="2500" kern="1200" dirty="0"/>
            <a:t> в до </a:t>
          </a:r>
          <a:r>
            <a:rPr lang="ru-RU" sz="2500" kern="1200" dirty="0" err="1"/>
            <a:t>н.в</a:t>
          </a:r>
          <a:r>
            <a:rPr lang="ru-RU" sz="2500" kern="1200" dirty="0"/>
            <a:t>.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Аристотелева</a:t>
          </a:r>
          <a:br>
            <a:rPr lang="ru-RU" sz="2500" kern="1200" dirty="0"/>
          </a:br>
          <a:r>
            <a:rPr lang="ru-RU" sz="2500" kern="1200" dirty="0"/>
            <a:t>логика</a:t>
          </a:r>
        </a:p>
      </dsp:txBody>
      <dsp:txXfrm>
        <a:off x="1735673" y="2953589"/>
        <a:ext cx="2953648" cy="1397748"/>
      </dsp:txXfrm>
    </dsp:sp>
    <dsp:sp modelId="{F903C98B-90D2-4F51-800B-EEE46EAE49D7}">
      <dsp:nvSpPr>
        <dsp:cNvPr id="0" name=""/>
        <dsp:cNvSpPr/>
      </dsp:nvSpPr>
      <dsp:spPr>
        <a:xfrm>
          <a:off x="2723759" y="1017726"/>
          <a:ext cx="557292" cy="55729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B4B41-8D7F-488D-952C-95CFC4518F6A}">
      <dsp:nvSpPr>
        <dsp:cNvPr id="0" name=""/>
        <dsp:cNvSpPr/>
      </dsp:nvSpPr>
      <dsp:spPr>
        <a:xfrm rot="5400000">
          <a:off x="4271445" y="363843"/>
          <a:ext cx="1966152" cy="32716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9ED474-D92D-4869-8183-FF9B1E992678}">
      <dsp:nvSpPr>
        <dsp:cNvPr id="0" name=""/>
        <dsp:cNvSpPr/>
      </dsp:nvSpPr>
      <dsp:spPr>
        <a:xfrm>
          <a:off x="3943246" y="1341356"/>
          <a:ext cx="2953648" cy="2589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60-е ХХ века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Логика предикатов</a:t>
          </a:r>
        </a:p>
      </dsp:txBody>
      <dsp:txXfrm>
        <a:off x="3943246" y="1341356"/>
        <a:ext cx="2953648" cy="2589046"/>
      </dsp:txXfrm>
    </dsp:sp>
    <dsp:sp modelId="{EB27AD9F-E95B-45C8-A3DF-3BFD54179332}">
      <dsp:nvSpPr>
        <dsp:cNvPr id="0" name=""/>
        <dsp:cNvSpPr/>
      </dsp:nvSpPr>
      <dsp:spPr>
        <a:xfrm>
          <a:off x="6339602" y="122982"/>
          <a:ext cx="557292" cy="557292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84BBB-5F57-490F-B1BF-CEBAD8A8B561}">
      <dsp:nvSpPr>
        <dsp:cNvPr id="0" name=""/>
        <dsp:cNvSpPr/>
      </dsp:nvSpPr>
      <dsp:spPr>
        <a:xfrm rot="5400000">
          <a:off x="7887288" y="-530900"/>
          <a:ext cx="1966152" cy="3271632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B99E7-9D30-4BC7-BEA3-F03B9955D2A5}">
      <dsp:nvSpPr>
        <dsp:cNvPr id="0" name=""/>
        <dsp:cNvSpPr/>
      </dsp:nvSpPr>
      <dsp:spPr>
        <a:xfrm>
          <a:off x="7559088" y="446613"/>
          <a:ext cx="2953648" cy="2589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20-е </a:t>
          </a:r>
          <a:r>
            <a:rPr lang="en-US" sz="2500" kern="1200" dirty="0"/>
            <a:t>XXI</a:t>
          </a:r>
          <a:r>
            <a:rPr lang="ru-RU" sz="2500" kern="1200" dirty="0"/>
            <a:t> века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Гибридные системы</a:t>
          </a:r>
        </a:p>
      </dsp:txBody>
      <dsp:txXfrm>
        <a:off x="7559088" y="446613"/>
        <a:ext cx="2953648" cy="2589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5A7AF-07E7-4BAB-89BA-870FF7464197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23492-37D5-4669-94D5-9F409E60EB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75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F67F-7F39-4FF5-9552-E8CDF1AFEF76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55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B13B-05D8-4316-8165-ACD6CFBDDBB7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47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9E8EE-DAA0-4D29-B187-17C73F7A8469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F5D8-78D2-4F37-93FE-8205505EEB99}" type="datetime1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48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4054-7AAC-4F27-9E94-F01A01FF42A5}" type="datetime1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78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B9B3-DFAD-44E1-830A-AA83FE8DEF78}" type="datetime1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4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2E4B-6E25-4B7A-8B7F-44A2B239CD52}" type="datetime1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01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8F37-F1E7-4C71-96BF-05206AAD34C7}" type="datetime1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71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F0BCB-922D-486A-9BFC-5438BA98C730}" type="datetime1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61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F5B2C-2917-4AA6-87D0-3981F30580D7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05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FB2D2-461C-4F64-A9A7-45301ACFFD2B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10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F5D3A-438D-4738-B41F-9EEB6578CAF0}" type="datetime1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AB328-D00B-49D5-AB42-2A3A6A5801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02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3224462"/>
            <a:ext cx="9144000" cy="151816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 Логика предикатов как язык представления знаний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223893"/>
            <a:ext cx="9144000" cy="436418"/>
          </a:xfrm>
        </p:spPr>
        <p:txBody>
          <a:bodyPr/>
          <a:lstStyle/>
          <a:p>
            <a:r>
              <a:rPr lang="ru-RU" dirty="0"/>
              <a:t>Преподаватель: к.т.н., доц. Николаева И.В.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468582" y="461896"/>
            <a:ext cx="91994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КУБАНСКИЙ ГОСУДАРСТВЕННЫЙ УНИВЕРСИТЕТ </a:t>
            </a:r>
            <a:br>
              <a:rPr lang="en-US" sz="2400" dirty="0"/>
            </a:br>
            <a:r>
              <a:rPr lang="ru-RU" sz="2400" dirty="0"/>
              <a:t>Кафедра математических и компьютерных методов</a:t>
            </a:r>
            <a:endParaRPr lang="en-US" sz="2400" dirty="0"/>
          </a:p>
          <a:p>
            <a:pPr algn="ctr"/>
            <a:r>
              <a:rPr lang="ru-RU" sz="2400" dirty="0"/>
              <a:t> </a:t>
            </a:r>
            <a:br>
              <a:rPr lang="en-US" sz="2400" dirty="0"/>
            </a:br>
            <a:r>
              <a:rPr lang="ru-RU" sz="2400" dirty="0"/>
              <a:t>Дисциплина: «Основы компьютерных наук» </a:t>
            </a:r>
          </a:p>
          <a:p>
            <a:pPr algn="ctr"/>
            <a:r>
              <a:rPr lang="ru-RU" sz="2400" dirty="0"/>
              <a:t>4 семестр - Символический ИИ и логическое программирование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ru-RU" sz="2400" dirty="0"/>
              <a:t>Лекция 2</a:t>
            </a:r>
          </a:p>
        </p:txBody>
      </p:sp>
    </p:spTree>
    <p:extLst>
      <p:ext uri="{BB962C8B-B14F-4D97-AF65-F5344CB8AC3E}">
        <p14:creationId xmlns:p14="http://schemas.microsoft.com/office/powerpoint/2010/main" val="8836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Логическая модель представления знаний в 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Переменная в </a:t>
            </a:r>
            <a:r>
              <a:rPr lang="en-US" dirty="0"/>
              <a:t>Prolog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Механизм логического вывода </a:t>
            </a:r>
            <a:r>
              <a:rPr lang="en-US" dirty="0"/>
              <a:t>Prolog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Решение логической задачи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52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u="sng" dirty="0">
                <a:solidFill>
                  <a:srgbClr val="FF0000"/>
                </a:solidFill>
              </a:rPr>
              <a:t>1. Логическая модель представления знаний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hangingPunct="0">
              <a:buNone/>
            </a:pPr>
            <a:r>
              <a:rPr lang="ru-RU" b="1" dirty="0"/>
              <a:t>Модель представления знаний (МПЗ)</a:t>
            </a:r>
            <a:r>
              <a:rPr lang="ru-RU" dirty="0"/>
              <a:t> – это способ организации знаний в системе ИИ, включающий:</a:t>
            </a:r>
          </a:p>
          <a:p>
            <a:pPr lvl="1" hangingPunct="0"/>
            <a:r>
              <a:rPr lang="ru-RU" b="1" dirty="0"/>
              <a:t>Структуру</a:t>
            </a:r>
            <a:r>
              <a:rPr lang="ru-RU" dirty="0"/>
              <a:t> данных для хранения знаний</a:t>
            </a:r>
          </a:p>
          <a:p>
            <a:pPr lvl="1" hangingPunct="0"/>
            <a:r>
              <a:rPr lang="ru-RU" b="1" dirty="0"/>
              <a:t>Операции</a:t>
            </a:r>
            <a:r>
              <a:rPr lang="ru-RU" dirty="0"/>
              <a:t> над знаниями (добавление, удаление, вывод)</a:t>
            </a:r>
          </a:p>
          <a:p>
            <a:pPr lvl="1" hangingPunct="0"/>
            <a:r>
              <a:rPr lang="ru-RU" b="1" dirty="0"/>
              <a:t>Семантику</a:t>
            </a:r>
            <a:r>
              <a:rPr lang="ru-RU" dirty="0"/>
              <a:t> (правила интерпретации)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58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rgbClr val="0070C0"/>
                </a:solidFill>
              </a:rPr>
              <a:t>Основные классические модели ПЗ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756321"/>
              </p:ext>
            </p:extLst>
          </p:nvPr>
        </p:nvGraphicFramePr>
        <p:xfrm>
          <a:off x="838200" y="1825625"/>
          <a:ext cx="10515600" cy="3329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806">
                  <a:extLst>
                    <a:ext uri="{9D8B030D-6E8A-4147-A177-3AD203B41FA5}">
                      <a16:colId xmlns:a16="http://schemas.microsoft.com/office/drawing/2014/main" val="859051559"/>
                    </a:ext>
                  </a:extLst>
                </a:gridCol>
                <a:gridCol w="6571794">
                  <a:extLst>
                    <a:ext uri="{9D8B030D-6E8A-4147-A177-3AD203B41FA5}">
                      <a16:colId xmlns:a16="http://schemas.microsoft.com/office/drawing/2014/main" val="558979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80000" algn="ctr"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Модель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Основная идея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334092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>
                        <a:spcAft>
                          <a:spcPts val="0"/>
                        </a:spcAft>
                      </a:pPr>
                      <a:r>
                        <a:rPr lang="ru-RU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Логика предикатов</a:t>
                      </a:r>
                      <a:endParaRPr lang="ru-RU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Знания = логические формулы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664572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>
                        <a:spcAft>
                          <a:spcPts val="0"/>
                        </a:spcAft>
                      </a:pPr>
                      <a:r>
                        <a:rPr lang="ru-RU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Семантические сети</a:t>
                      </a:r>
                      <a:endParaRPr lang="ru-RU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Знания = граф понятий и отношений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97859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>
                        <a:spcAft>
                          <a:spcPts val="0"/>
                        </a:spcAft>
                      </a:pPr>
                      <a:r>
                        <a:rPr lang="ru-RU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Фреймы</a:t>
                      </a:r>
                      <a:endParaRPr lang="ru-RU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6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Знания = иерархия шаблонов-объектов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72510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>
                        <a:spcAft>
                          <a:spcPts val="0"/>
                        </a:spcAft>
                      </a:pPr>
                      <a:r>
                        <a:rPr lang="ru-RU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Продукционная модель</a:t>
                      </a:r>
                      <a:endParaRPr lang="ru-RU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Знания = набор правил "ЕСЛИ-ТО"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888350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6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Почему мы начинаем с логики предикатов?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ru-RU" b="1" dirty="0"/>
              <a:t>Является универсальным языком для представления знаний</a:t>
            </a:r>
          </a:p>
          <a:p>
            <a:pPr lvl="1"/>
            <a:r>
              <a:rPr lang="ru-RU" dirty="0"/>
              <a:t>Семантические сети: отношение(объект1, объект2)</a:t>
            </a:r>
          </a:p>
          <a:p>
            <a:pPr lvl="1"/>
            <a:r>
              <a:rPr lang="ru-RU" dirty="0"/>
              <a:t>Фреймы: слот(объект, значение)</a:t>
            </a:r>
          </a:p>
          <a:p>
            <a:pPr lvl="1"/>
            <a:r>
              <a:rPr lang="ru-RU" dirty="0"/>
              <a:t>Продукционные правила: вывод(Z) :— условие1(X), условие2(Y)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ru-RU" b="1" dirty="0"/>
              <a:t>Это фундамент для понимания </a:t>
            </a:r>
            <a:r>
              <a:rPr lang="ru-RU" dirty="0"/>
              <a:t>классической теории представлений знаний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ru-RU" b="1" dirty="0"/>
              <a:t>Используется </a:t>
            </a:r>
            <a:r>
              <a:rPr lang="ru-RU" dirty="0"/>
              <a:t>в современных интеллектуальных системах </a:t>
            </a:r>
            <a:r>
              <a:rPr lang="ru-RU" b="1" dirty="0"/>
              <a:t>совместно с другими моделями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5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2300 лет логической модели</a:t>
            </a: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9282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6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001294"/>
            <a:ext cx="1735667" cy="203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4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Сильные стороны логического подхода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hangingPunct="0"/>
            <a:r>
              <a:rPr lang="ru-RU" b="1" dirty="0"/>
              <a:t>Точность и однозначность</a:t>
            </a:r>
            <a:r>
              <a:rPr lang="ru-RU" dirty="0"/>
              <a:t> </a:t>
            </a:r>
          </a:p>
          <a:p>
            <a:pPr lvl="1" hangingPunct="0"/>
            <a:r>
              <a:rPr lang="ru-RU" dirty="0">
                <a:solidFill>
                  <a:srgbClr val="0070C0"/>
                </a:solidFill>
              </a:rPr>
              <a:t>формулы исключают двусмысленности естественного языка</a:t>
            </a:r>
            <a:endParaRPr lang="ru-RU" dirty="0"/>
          </a:p>
          <a:p>
            <a:pPr lvl="0" hangingPunct="0"/>
            <a:r>
              <a:rPr lang="ru-RU" b="1" dirty="0"/>
              <a:t>Строгий формализм</a:t>
            </a:r>
            <a:r>
              <a:rPr lang="ru-RU" dirty="0"/>
              <a:t> </a:t>
            </a:r>
          </a:p>
          <a:p>
            <a:pPr lvl="1" hangingPunct="0"/>
            <a:r>
              <a:rPr lang="ru-RU" dirty="0">
                <a:solidFill>
                  <a:srgbClr val="0070C0"/>
                </a:solidFill>
              </a:rPr>
              <a:t>четкие правила вывода гарантируют корректность получаемых заключений</a:t>
            </a:r>
          </a:p>
          <a:p>
            <a:pPr lvl="0" hangingPunct="0"/>
            <a:r>
              <a:rPr lang="ru-RU" b="1" dirty="0"/>
              <a:t>Объяснимость</a:t>
            </a:r>
            <a:r>
              <a:rPr lang="ru-RU" dirty="0"/>
              <a:t> </a:t>
            </a:r>
          </a:p>
          <a:p>
            <a:pPr lvl="1" hangingPunct="0"/>
            <a:r>
              <a:rPr lang="ru-RU" dirty="0">
                <a:solidFill>
                  <a:srgbClr val="0070C0"/>
                </a:solidFill>
              </a:rPr>
              <a:t>цепочку логического вывода можно проследить и понять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71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Слабые стороны логического подхода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hangingPunct="0"/>
            <a:r>
              <a:rPr lang="ru-RU" b="1" dirty="0"/>
              <a:t>Сложность с неопределенностью </a:t>
            </a:r>
            <a:r>
              <a:rPr lang="ru-RU" dirty="0"/>
              <a:t> </a:t>
            </a:r>
          </a:p>
          <a:p>
            <a:pPr lvl="1" hangingPunct="0"/>
            <a:r>
              <a:rPr lang="ru-RU" dirty="0">
                <a:solidFill>
                  <a:srgbClr val="0070C0"/>
                </a:solidFill>
              </a:rPr>
              <a:t>только "истина/ложь", нет "возможно/вероятно</a:t>
            </a:r>
            <a:endParaRPr lang="ru-RU" dirty="0"/>
          </a:p>
          <a:p>
            <a:pPr lvl="0" hangingPunct="0"/>
            <a:r>
              <a:rPr lang="ru-RU" b="1" dirty="0"/>
              <a:t>Проблема выразительности</a:t>
            </a:r>
            <a:r>
              <a:rPr lang="ru-RU" dirty="0"/>
              <a:t> </a:t>
            </a:r>
          </a:p>
          <a:p>
            <a:pPr lvl="1" hangingPunct="0"/>
            <a:r>
              <a:rPr lang="ru-RU" dirty="0">
                <a:solidFill>
                  <a:srgbClr val="0070C0"/>
                </a:solidFill>
              </a:rPr>
              <a:t>время ("до", "после", "всегда"), пространство ("рядом", "внутри", "между") описываются громоздко</a:t>
            </a:r>
          </a:p>
          <a:p>
            <a:pPr lvl="0" hangingPunct="0"/>
            <a:r>
              <a:rPr lang="ru-RU" b="1" dirty="0"/>
              <a:t>Хрупкость</a:t>
            </a:r>
            <a:r>
              <a:rPr lang="ru-RU" dirty="0"/>
              <a:t> </a:t>
            </a:r>
          </a:p>
          <a:p>
            <a:pPr lvl="1" hangingPunct="0"/>
            <a:r>
              <a:rPr lang="ru-RU" dirty="0">
                <a:solidFill>
                  <a:srgbClr val="0070C0"/>
                </a:solidFill>
              </a:rPr>
              <a:t>любое противоречие делает систему </a:t>
            </a:r>
            <a:r>
              <a:rPr lang="ru-RU">
                <a:solidFill>
                  <a:srgbClr val="0070C0"/>
                </a:solidFill>
              </a:rPr>
              <a:t>логически несостоятельной 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1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solidFill>
                  <a:srgbClr val="0070C0"/>
                </a:solidFill>
              </a:rPr>
              <a:t>Пример формализации знаний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762990"/>
              </p:ext>
            </p:extLst>
          </p:nvPr>
        </p:nvGraphicFramePr>
        <p:xfrm>
          <a:off x="860076" y="1830985"/>
          <a:ext cx="1051560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ЗНАНИЯ НА ЯЗЫКЕ ЧЕЛОВЕКА</a:t>
                      </a:r>
                    </a:p>
                    <a:p>
                      <a:r>
                        <a:rPr lang="ru-RU" sz="2800" dirty="0"/>
                        <a:t>(естественный язык)</a:t>
                      </a:r>
                      <a:endParaRPr lang="ru-RU" sz="2600" dirty="0"/>
                    </a:p>
                  </a:txBody>
                  <a:tcP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600" dirty="0"/>
                        <a:t>ЛОГИКА ПРЕДИКАТОВ </a:t>
                      </a:r>
                    </a:p>
                    <a:p>
                      <a:r>
                        <a:rPr lang="ru-RU" sz="2600" dirty="0"/>
                        <a:t>(формальный язык)</a:t>
                      </a:r>
                    </a:p>
                  </a:txBody>
                  <a:tcP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6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74805"/>
              </p:ext>
            </p:extLst>
          </p:nvPr>
        </p:nvGraphicFramePr>
        <p:xfrm>
          <a:off x="860076" y="3005122"/>
          <a:ext cx="105156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0693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848773">
                  <a:extLst>
                    <a:ext uri="{9D8B030D-6E8A-4147-A177-3AD203B41FA5}">
                      <a16:colId xmlns:a16="http://schemas.microsoft.com/office/drawing/2014/main" val="2060746467"/>
                    </a:ext>
                  </a:extLst>
                </a:gridCol>
                <a:gridCol w="5246134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«Все люди смертны»</a:t>
                      </a:r>
                    </a:p>
                    <a:p>
                      <a:r>
                        <a:rPr lang="ru-RU" sz="2400" dirty="0"/>
                        <a:t>(Общее правило о мире)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∀x (Человек(x) → Смертен(x))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  <p:graphicFrame>
        <p:nvGraphicFramePr>
          <p:cNvPr id="14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378769"/>
              </p:ext>
            </p:extLst>
          </p:nvPr>
        </p:nvGraphicFramePr>
        <p:xfrm>
          <a:off x="838200" y="4118299"/>
          <a:ext cx="105156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0693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848773">
                  <a:extLst>
                    <a:ext uri="{9D8B030D-6E8A-4147-A177-3AD203B41FA5}">
                      <a16:colId xmlns:a16="http://schemas.microsoft.com/office/drawing/2014/main" val="2060746467"/>
                    </a:ext>
                  </a:extLst>
                </a:gridCol>
                <a:gridCol w="5246134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«Сократ — человек»</a:t>
                      </a:r>
                    </a:p>
                    <a:p>
                      <a:r>
                        <a:rPr lang="ru-RU" sz="2400" dirty="0"/>
                        <a:t>(Конкретный факт)</a:t>
                      </a:r>
                      <a:endParaRPr lang="ru-RU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Человек(</a:t>
                      </a:r>
                      <a:r>
                        <a:rPr lang="ru-RU" sz="2400" dirty="0" err="1"/>
                        <a:t>сократ</a:t>
                      </a:r>
                      <a:r>
                        <a:rPr lang="ru-RU" sz="2400" dirty="0"/>
                        <a:t>)</a:t>
                      </a:r>
                      <a:endParaRPr lang="ru-RU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  <p:graphicFrame>
        <p:nvGraphicFramePr>
          <p:cNvPr id="15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1922993"/>
              </p:ext>
            </p:extLst>
          </p:nvPr>
        </p:nvGraphicFramePr>
        <p:xfrm>
          <a:off x="838200" y="5231476"/>
          <a:ext cx="105156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7667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524933">
                  <a:extLst>
                    <a:ext uri="{9D8B030D-6E8A-4147-A177-3AD203B41FA5}">
                      <a16:colId xmlns:a16="http://schemas.microsoft.com/office/drawing/2014/main" val="206074646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ВОПРОС:</a:t>
                      </a:r>
                    </a:p>
                    <a:p>
                      <a:r>
                        <a:rPr lang="ru-RU" sz="2400" dirty="0"/>
                        <a:t>«Следовательно, Сократ смертен?»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ЦЕЛЬ ДЛЯ ДОКАЗАТЕЛЬСТВА:</a:t>
                      </a:r>
                    </a:p>
                    <a:p>
                      <a:r>
                        <a:rPr lang="ru-RU" sz="2400" dirty="0"/>
                        <a:t>Доказать: Смертен(</a:t>
                      </a:r>
                      <a:r>
                        <a:rPr lang="ru-RU" sz="2400" dirty="0" err="1"/>
                        <a:t>сократ</a:t>
                      </a:r>
                      <a:r>
                        <a:rPr lang="ru-RU" sz="2400" dirty="0"/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56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Правила вывода </a:t>
            </a:r>
            <a:r>
              <a:rPr lang="en-US" b="1" dirty="0">
                <a:solidFill>
                  <a:srgbClr val="0070C0"/>
                </a:solidFill>
              </a:rPr>
              <a:t>modus ponens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3200" dirty="0"/>
              <a:t>Из истинности условия импликации и истинности самой импликации следует истинность следствия импликации:</a:t>
            </a:r>
          </a:p>
          <a:p>
            <a:pPr marL="0" indent="0" algn="ctr">
              <a:buNone/>
            </a:pPr>
            <a:r>
              <a:rPr lang="en-US" sz="3600" b="1" dirty="0"/>
              <a:t>A</a:t>
            </a:r>
            <a:r>
              <a:rPr lang="ru-RU" sz="3600" b="1" dirty="0"/>
              <a:t>, </a:t>
            </a:r>
            <a:r>
              <a:rPr lang="en-US" sz="3600" b="1" dirty="0"/>
              <a:t>A</a:t>
            </a:r>
            <a:r>
              <a:rPr lang="en-US" sz="3600" b="1" dirty="0">
                <a:sym typeface="Symbol" panose="05050102010706020507" pitchFamily="18" charset="2"/>
              </a:rPr>
              <a:t></a:t>
            </a:r>
            <a:r>
              <a:rPr lang="en-US" sz="3600" b="1" dirty="0"/>
              <a:t>B</a:t>
            </a:r>
            <a:r>
              <a:rPr lang="ru-RU" sz="3600" b="1" dirty="0"/>
              <a:t> ├ </a:t>
            </a:r>
            <a:r>
              <a:rPr lang="en-US" sz="3600" b="1" dirty="0"/>
              <a:t>B</a:t>
            </a:r>
            <a:r>
              <a:rPr lang="ru-RU" sz="3600" b="1" dirty="0"/>
              <a:t>          </a:t>
            </a:r>
          </a:p>
          <a:p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67" y="3964026"/>
            <a:ext cx="3530601" cy="160518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42" y="3782493"/>
            <a:ext cx="5360158" cy="178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3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rgbClr val="0070C0"/>
                </a:solidFill>
              </a:rPr>
              <a:t>От логики предикатов к программе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ru-RU" sz="3600" b="1" dirty="0">
                <a:solidFill>
                  <a:srgbClr val="0070C0"/>
                </a:solidFill>
              </a:rPr>
              <a:t>на </a:t>
            </a:r>
            <a:r>
              <a:rPr lang="en-US" sz="3600" b="1" dirty="0">
                <a:solidFill>
                  <a:srgbClr val="0070C0"/>
                </a:solidFill>
              </a:rPr>
              <a:t>Prolog</a:t>
            </a:r>
            <a:r>
              <a:rPr lang="ru-RU" sz="3600" b="1" dirty="0">
                <a:solidFill>
                  <a:srgbClr val="0070C0"/>
                </a:solidFill>
              </a:rPr>
              <a:t> 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078242"/>
              </p:ext>
            </p:extLst>
          </p:nvPr>
        </p:nvGraphicFramePr>
        <p:xfrm>
          <a:off x="860076" y="1830985"/>
          <a:ext cx="10515600" cy="88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600" dirty="0"/>
                        <a:t>ЛОГИКА ПРЕДИКАТОВ </a:t>
                      </a:r>
                    </a:p>
                    <a:p>
                      <a:r>
                        <a:rPr lang="ru-RU" sz="2600" dirty="0"/>
                        <a:t>(формальный язык)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/>
                        <a:t>PROLOG-ПРОГРАММА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/>
                        <a:t>(исполняемый код)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6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41051"/>
              </p:ext>
            </p:extLst>
          </p:nvPr>
        </p:nvGraphicFramePr>
        <p:xfrm>
          <a:off x="860076" y="3005122"/>
          <a:ext cx="105156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0693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848773">
                  <a:extLst>
                    <a:ext uri="{9D8B030D-6E8A-4147-A177-3AD203B41FA5}">
                      <a16:colId xmlns:a16="http://schemas.microsoft.com/office/drawing/2014/main" val="2060746467"/>
                    </a:ext>
                  </a:extLst>
                </a:gridCol>
                <a:gridCol w="5246134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70C0"/>
                          </a:solidFill>
                        </a:rPr>
                        <a:t>ТЕОРЕМА / ПРАВИЛО: </a:t>
                      </a:r>
                    </a:p>
                    <a:p>
                      <a:r>
                        <a:rPr lang="ru-RU" sz="2400" dirty="0"/>
                        <a:t>∀x (Человек(x) → Смертен(x))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смертен(X) :- человек(X).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  <p:graphicFrame>
        <p:nvGraphicFramePr>
          <p:cNvPr id="14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3383053"/>
              </p:ext>
            </p:extLst>
          </p:nvPr>
        </p:nvGraphicFramePr>
        <p:xfrm>
          <a:off x="838200" y="4118299"/>
          <a:ext cx="105156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0693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848773">
                  <a:extLst>
                    <a:ext uri="{9D8B030D-6E8A-4147-A177-3AD203B41FA5}">
                      <a16:colId xmlns:a16="http://schemas.microsoft.com/office/drawing/2014/main" val="2060746467"/>
                    </a:ext>
                  </a:extLst>
                </a:gridCol>
                <a:gridCol w="5246134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70C0"/>
                          </a:solidFill>
                        </a:rPr>
                        <a:t>АКСИОМА / ФАКТ: </a:t>
                      </a:r>
                    </a:p>
                    <a:p>
                      <a:r>
                        <a:rPr lang="ru-RU" sz="2400" dirty="0"/>
                        <a:t>Человек(</a:t>
                      </a:r>
                      <a:r>
                        <a:rPr lang="ru-RU" sz="2400" dirty="0" err="1"/>
                        <a:t>сократ</a:t>
                      </a:r>
                      <a:r>
                        <a:rPr lang="ru-RU" sz="24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человек(</a:t>
                      </a:r>
                      <a:r>
                        <a:rPr lang="ru-RU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сократ</a:t>
                      </a:r>
                      <a:r>
                        <a:rPr lang="ru-RU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  <p:graphicFrame>
        <p:nvGraphicFramePr>
          <p:cNvPr id="15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045105"/>
              </p:ext>
            </p:extLst>
          </p:nvPr>
        </p:nvGraphicFramePr>
        <p:xfrm>
          <a:off x="838200" y="5231476"/>
          <a:ext cx="105156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0693">
                  <a:extLst>
                    <a:ext uri="{9D8B030D-6E8A-4147-A177-3AD203B41FA5}">
                      <a16:colId xmlns:a16="http://schemas.microsoft.com/office/drawing/2014/main" val="4192904105"/>
                    </a:ext>
                  </a:extLst>
                </a:gridCol>
                <a:gridCol w="848773">
                  <a:extLst>
                    <a:ext uri="{9D8B030D-6E8A-4147-A177-3AD203B41FA5}">
                      <a16:colId xmlns:a16="http://schemas.microsoft.com/office/drawing/2014/main" val="2060746467"/>
                    </a:ext>
                  </a:extLst>
                </a:gridCol>
                <a:gridCol w="5246134">
                  <a:extLst>
                    <a:ext uri="{9D8B030D-6E8A-4147-A177-3AD203B41FA5}">
                      <a16:colId xmlns:a16="http://schemas.microsoft.com/office/drawing/2014/main" val="1121918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0070C0"/>
                          </a:solidFill>
                        </a:rPr>
                        <a:t>ЦЕЛЬ / ВОПРОС:</a:t>
                      </a:r>
                    </a:p>
                    <a:p>
                      <a:r>
                        <a:rPr lang="ru-RU" sz="2400" dirty="0"/>
                        <a:t>Доказать: Смертен(</a:t>
                      </a:r>
                      <a:r>
                        <a:rPr lang="ru-RU" sz="2400" dirty="0" err="1"/>
                        <a:t>сократ</a:t>
                      </a:r>
                      <a:r>
                        <a:rPr lang="ru-RU" sz="24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?- смертен(</a:t>
                      </a:r>
                      <a:r>
                        <a:rPr lang="ru-RU" sz="2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сократ</a:t>
                      </a:r>
                      <a:r>
                        <a:rPr lang="ru-RU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7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11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 Факты (аксиомы)</a:t>
            </a:r>
          </a:p>
          <a:p>
            <a:pPr marL="0" indent="0"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студент(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александр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buNone/>
            </a:pP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хорошо_учился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александр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buNone/>
            </a:pP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 Правило (для ВСЕХ X)</a:t>
            </a:r>
          </a:p>
          <a:p>
            <a:pPr marL="0" indent="0">
              <a:buNone/>
            </a:pP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сдал_экзамен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(X) :- студент(Х),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хорошо_учился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(X).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518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u="sng" dirty="0">
                <a:solidFill>
                  <a:srgbClr val="FF0000"/>
                </a:solidFill>
              </a:rPr>
              <a:t>2.  Переменная в </a:t>
            </a:r>
            <a:r>
              <a:rPr lang="en-US" b="1" u="sng" dirty="0">
                <a:solidFill>
                  <a:srgbClr val="FF0000"/>
                </a:solidFill>
              </a:rPr>
              <a:t>Prolog</a:t>
            </a:r>
            <a:r>
              <a:rPr lang="ru-RU" b="1" u="sng" dirty="0">
                <a:solidFill>
                  <a:srgbClr val="FF0000"/>
                </a:solidFill>
              </a:rPr>
              <a:t> </a:t>
            </a:r>
            <a:endParaRPr lang="ru-RU" b="1" u="sng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556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Переменные в </a:t>
            </a:r>
            <a:r>
              <a:rPr lang="en-US" b="1" dirty="0"/>
              <a:t>Prolog</a:t>
            </a:r>
            <a:r>
              <a:rPr lang="ru-RU" b="1" dirty="0"/>
              <a:t> являются частью процесса сопоставления, а не «хранилищем» информации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5"/>
            <a:ext cx="11040687" cy="4351338"/>
          </a:xfrm>
        </p:spPr>
        <p:txBody>
          <a:bodyPr/>
          <a:lstStyle/>
          <a:p>
            <a:r>
              <a:rPr lang="ru-RU" dirty="0"/>
              <a:t>Переменные в </a:t>
            </a:r>
            <a:r>
              <a:rPr lang="en-US" dirty="0"/>
              <a:t>Prolog</a:t>
            </a:r>
            <a:r>
              <a:rPr lang="ru-RU" dirty="0"/>
              <a:t> получают свои значения в результате сопоставления</a:t>
            </a:r>
          </a:p>
          <a:p>
            <a:r>
              <a:rPr lang="ru-RU" dirty="0"/>
              <a:t>Переменные освобождаются при </a:t>
            </a:r>
            <a:r>
              <a:rPr lang="ru-RU" dirty="0" err="1"/>
              <a:t>бэктрекинге</a:t>
            </a:r>
            <a:r>
              <a:rPr lang="ru-RU" dirty="0"/>
              <a:t> (возврате для поиска нового решения)</a:t>
            </a:r>
          </a:p>
          <a:p>
            <a:r>
              <a:rPr lang="ru-RU" dirty="0"/>
              <a:t>Когда переменная примет значение, она становится «связанной» в течение времени, необходимого для получения одного ответа на запрос, после этого </a:t>
            </a:r>
            <a:r>
              <a:rPr lang="en-US" dirty="0"/>
              <a:t>Prolog</a:t>
            </a:r>
            <a:r>
              <a:rPr lang="ru-RU" dirty="0"/>
              <a:t> «развязывает» ее, возвращается и ищет альтернативные решения</a:t>
            </a:r>
          </a:p>
          <a:p>
            <a:r>
              <a:rPr lang="ru-RU" dirty="0"/>
              <a:t>В </a:t>
            </a:r>
            <a:r>
              <a:rPr lang="en-US" dirty="0"/>
              <a:t>Prolog</a:t>
            </a:r>
            <a:r>
              <a:rPr lang="ru-RU" dirty="0"/>
              <a:t> </a:t>
            </a:r>
            <a:r>
              <a:rPr lang="ru-RU" b="1" dirty="0">
                <a:solidFill>
                  <a:srgbClr val="FF0000"/>
                </a:solidFill>
              </a:rPr>
              <a:t>нельзя хранить информацию, задавая значения переменных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732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Область действия переменной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Областью действия переменной </a:t>
            </a:r>
            <a:r>
              <a:rPr lang="ru-RU" b="1" dirty="0"/>
              <a:t>является одно предложение</a:t>
            </a:r>
            <a:r>
              <a:rPr lang="ru-RU" dirty="0"/>
              <a:t>. В разных предложениях может использоваться одно имя переменной для обозначения разных объектов. </a:t>
            </a:r>
          </a:p>
          <a:p>
            <a:pPr marL="0" indent="0">
              <a:buNone/>
            </a:pPr>
            <a:r>
              <a:rPr lang="ru-RU" u="sng" dirty="0"/>
              <a:t>Например:</a:t>
            </a:r>
          </a:p>
          <a:p>
            <a:pPr marL="0" indent="0" hangingPunct="0"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отец(Х,У) :- мужчина(Х),родитель(Х,У).</a:t>
            </a:r>
          </a:p>
          <a:p>
            <a:pPr marL="0" indent="0" hangingPunct="0"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сын(Х,У) :- мужчина(Х),родитель(У,Х).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99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Операция сопоставления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Сопоставление (унификация) </a:t>
            </a:r>
            <a:r>
              <a:rPr lang="ru-RU" dirty="0"/>
              <a:t>в языке </a:t>
            </a:r>
            <a:r>
              <a:rPr lang="en-US" dirty="0"/>
              <a:t>Prolog</a:t>
            </a:r>
            <a:r>
              <a:rPr lang="ru-RU" dirty="0"/>
              <a:t> — это операция, которая выполняет сравнение двух термов на равенство, при этом </a:t>
            </a:r>
            <a:r>
              <a:rPr lang="ru-RU" dirty="0" err="1"/>
              <a:t>неконкретизированные</a:t>
            </a:r>
            <a:r>
              <a:rPr lang="ru-RU" dirty="0"/>
              <a:t> переменные получают значения, при которых термы становятся идентичными.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ru-RU" u="sng" dirty="0"/>
              <a:t>Например:</a:t>
            </a:r>
          </a:p>
          <a:p>
            <a:r>
              <a:rPr lang="ru-RU" dirty="0"/>
              <a:t>сдал(</a:t>
            </a:r>
            <a:r>
              <a:rPr lang="ru-RU" dirty="0" err="1"/>
              <a:t>иван</a:t>
            </a:r>
            <a:r>
              <a:rPr lang="ru-RU" dirty="0"/>
              <a:t>, X) = сдал(</a:t>
            </a:r>
            <a:r>
              <a:rPr lang="ru-RU" dirty="0" err="1"/>
              <a:t>иван</a:t>
            </a:r>
            <a:r>
              <a:rPr lang="ru-RU" dirty="0"/>
              <a:t>, математика) </a:t>
            </a:r>
            <a:r>
              <a:rPr lang="ru-RU" dirty="0">
                <a:solidFill>
                  <a:srgbClr val="0070C0"/>
                </a:solidFill>
              </a:rPr>
              <a:t>→ успех, X = математика</a:t>
            </a:r>
          </a:p>
          <a:p>
            <a:r>
              <a:rPr lang="ru-RU" dirty="0"/>
              <a:t>сдал(</a:t>
            </a:r>
            <a:r>
              <a:rPr lang="ru-RU" dirty="0" err="1"/>
              <a:t>иван</a:t>
            </a:r>
            <a:r>
              <a:rPr lang="ru-RU" dirty="0"/>
              <a:t>, X) = сдал(</a:t>
            </a:r>
            <a:r>
              <a:rPr lang="ru-RU" dirty="0" err="1"/>
              <a:t>петр</a:t>
            </a:r>
            <a:r>
              <a:rPr lang="ru-RU" dirty="0"/>
              <a:t>, математика) </a:t>
            </a:r>
            <a:r>
              <a:rPr lang="ru-RU" dirty="0">
                <a:solidFill>
                  <a:srgbClr val="0070C0"/>
                </a:solidFill>
              </a:rPr>
              <a:t>→ неудача (разные имена)</a:t>
            </a:r>
          </a:p>
          <a:p>
            <a:r>
              <a:rPr lang="ru-RU" dirty="0"/>
              <a:t>f(X, a) = f(b, Y) </a:t>
            </a:r>
            <a:r>
              <a:rPr lang="ru-RU" dirty="0">
                <a:solidFill>
                  <a:srgbClr val="0070C0"/>
                </a:solidFill>
              </a:rPr>
              <a:t>→ успех, X = b, Y = a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73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Правила сопоставления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hangingPunct="0"/>
            <a:r>
              <a:rPr lang="ru-RU" dirty="0"/>
              <a:t>Константа сопоставляется только с равной ей константой</a:t>
            </a:r>
          </a:p>
          <a:p>
            <a:pPr lvl="0" hangingPunct="0"/>
            <a:r>
              <a:rPr lang="ru-RU" dirty="0"/>
              <a:t>Идентичные структуры сопоставляются друг с другом</a:t>
            </a:r>
          </a:p>
          <a:p>
            <a:pPr lvl="0" hangingPunct="0"/>
            <a:r>
              <a:rPr lang="ru-RU" dirty="0"/>
              <a:t>Свободная переменная сопоставляется с константой или с ранее связанной переменной </a:t>
            </a:r>
            <a:r>
              <a:rPr lang="ru-RU" dirty="0">
                <a:solidFill>
                  <a:srgbClr val="0070C0"/>
                </a:solidFill>
              </a:rPr>
              <a:t>(и становится связанной с соответствующим значением)</a:t>
            </a:r>
          </a:p>
          <a:p>
            <a:pPr lvl="0" hangingPunct="0"/>
            <a:r>
              <a:rPr lang="ru-RU" dirty="0"/>
              <a:t>Две свободные переменные могут сопоставляться (и связываться) друг с другом. </a:t>
            </a:r>
            <a:r>
              <a:rPr lang="ru-RU" dirty="0">
                <a:solidFill>
                  <a:srgbClr val="0070C0"/>
                </a:solidFill>
              </a:rPr>
              <a:t>С момента связывания они трактуются как одна переменная: если одна из них принимает какое-либо значение, то вторая принимает то же значение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63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u="sng" dirty="0">
                <a:solidFill>
                  <a:srgbClr val="FF0000"/>
                </a:solidFill>
              </a:rPr>
              <a:t>3. Механизм логического вывода </a:t>
            </a:r>
            <a:r>
              <a:rPr lang="ru-RU" b="1" u="sng" dirty="0" err="1">
                <a:solidFill>
                  <a:srgbClr val="FF0000"/>
                </a:solidFill>
              </a:rPr>
              <a:t>Prolog</a:t>
            </a:r>
            <a:endParaRPr lang="ru-RU" b="1" u="sng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Резолюция в </a:t>
            </a:r>
            <a:r>
              <a:rPr lang="ru-RU" dirty="0" err="1"/>
              <a:t>Prolog</a:t>
            </a:r>
            <a:r>
              <a:rPr lang="ru-RU" dirty="0"/>
              <a:t> — это механизм автоматического доказательства, при котором цель (запрос) последовательно заменяется на подцели (тела правил) посредством унификации с головами правил, пока не будет достигнуто совпадение с фактом или исчерпаны все возможности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577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выполнения Пролог-программы основан на механизме прямого перебора с возвратом (</a:t>
            </a:r>
            <a:r>
              <a:rPr lang="ru-RU" dirty="0" err="1"/>
              <a:t>бэктрекингом</a:t>
            </a:r>
            <a:r>
              <a:rPr lang="ru-RU" dirty="0"/>
              <a:t>) и операции сопоставления (унификации).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543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Трассировка программы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Включение режима трассировки – </a:t>
            </a:r>
            <a:r>
              <a:rPr lang="ru-RU" b="1" dirty="0" err="1">
                <a:solidFill>
                  <a:srgbClr val="FF0000"/>
                </a:solidFill>
              </a:rPr>
              <a:t>trace</a:t>
            </a:r>
            <a:r>
              <a:rPr lang="ru-RU" b="1" dirty="0">
                <a:solidFill>
                  <a:srgbClr val="FF0000"/>
                </a:solidFill>
              </a:rPr>
              <a:t>.</a:t>
            </a:r>
            <a:r>
              <a:rPr lang="ru-RU" dirty="0"/>
              <a:t> </a:t>
            </a:r>
          </a:p>
          <a:p>
            <a:r>
              <a:rPr lang="ru-RU" dirty="0"/>
              <a:t>Выход из режима трассировки – </a:t>
            </a:r>
            <a:r>
              <a:rPr lang="ru-RU" b="1" dirty="0" err="1">
                <a:solidFill>
                  <a:srgbClr val="FF0000"/>
                </a:solidFill>
              </a:rPr>
              <a:t>nodebug</a:t>
            </a:r>
            <a:r>
              <a:rPr lang="ru-RU" b="1" dirty="0">
                <a:solidFill>
                  <a:srgbClr val="FF0000"/>
                </a:solidFill>
              </a:rPr>
              <a:t>.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Пошаговое продвижение в режиме трассировки – </a:t>
            </a:r>
            <a:r>
              <a:rPr lang="ru-RU" b="1" dirty="0"/>
              <a:t>&lt;</a:t>
            </a:r>
            <a:r>
              <a:rPr lang="en-US" b="1" dirty="0"/>
              <a:t>Enter</a:t>
            </a:r>
            <a:r>
              <a:rPr lang="ru-RU" b="1" dirty="0"/>
              <a:t>&gt;</a:t>
            </a:r>
          </a:p>
          <a:p>
            <a:r>
              <a:rPr lang="ru-RU" b="1" u="sng" dirty="0"/>
              <a:t>Сообщения системы:</a:t>
            </a:r>
            <a:endParaRPr lang="ru-RU" b="1" dirty="0"/>
          </a:p>
          <a:p>
            <a:pPr marL="0" indent="0">
              <a:buNone/>
            </a:pPr>
            <a:r>
              <a:rPr lang="ru-RU" b="1" dirty="0" err="1"/>
              <a:t>Call</a:t>
            </a:r>
            <a:r>
              <a:rPr lang="ru-RU" dirty="0"/>
              <a:t> – вызов предиката в качестве текущей цели. </a:t>
            </a:r>
          </a:p>
          <a:p>
            <a:pPr marL="0" indent="0">
              <a:buNone/>
            </a:pPr>
            <a:r>
              <a:rPr lang="ru-RU" b="1" dirty="0" err="1"/>
              <a:t>Exit</a:t>
            </a:r>
            <a:r>
              <a:rPr lang="ru-RU" dirty="0"/>
              <a:t> – цель согласована с базой данных.</a:t>
            </a:r>
          </a:p>
          <a:p>
            <a:pPr marL="0" indent="0">
              <a:buNone/>
            </a:pPr>
            <a:r>
              <a:rPr lang="ru-RU" b="1" dirty="0" err="1"/>
              <a:t>Fail</a:t>
            </a:r>
            <a:r>
              <a:rPr lang="ru-RU" dirty="0"/>
              <a:t> – предикат не достиг успеха.</a:t>
            </a:r>
          </a:p>
          <a:p>
            <a:pPr marL="0" indent="0">
              <a:buNone/>
            </a:pPr>
            <a:r>
              <a:rPr lang="ru-RU" b="1" dirty="0" err="1"/>
              <a:t>Redo</a:t>
            </a:r>
            <a:r>
              <a:rPr lang="ru-RU" dirty="0"/>
              <a:t> – откат.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29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31179"/>
            <a:ext cx="10515600" cy="5545784"/>
          </a:xfrm>
        </p:spPr>
        <p:txBody>
          <a:bodyPr>
            <a:normAutofit/>
          </a:bodyPr>
          <a:lstStyle/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?-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trace</a:t>
            </a: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true.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[trace]  ?- </a:t>
            </a: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отец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,_).</a:t>
            </a:r>
            <a:endParaRPr lang="ru-RU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(10)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отец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(_152, _154) ? creep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мужчина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(_152) ? creep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ru-RU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(11) мужчина(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николай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ru-RU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(11) 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николай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_154) ?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ru-RU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(11) 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николай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ru-RU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(10) отец(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николай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Х =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николай</a:t>
            </a:r>
            <a:endParaRPr lang="ru-RU" b="1" dirty="0">
              <a:solidFill>
                <a:srgbClr val="FF0000"/>
              </a:solidFill>
              <a:latin typeface="Arial Black" panose="020B0A04020102020204" pitchFamily="34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72796" y="5310201"/>
            <a:ext cx="3048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FF00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;</a:t>
            </a:r>
            <a:endParaRPr lang="ru-RU" sz="28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21</a:t>
            </a:fld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3882291" y="451792"/>
            <a:ext cx="7866218" cy="52322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отец(Х,У):-мужчина(Х),родитель(Х,У).</a:t>
            </a:r>
          </a:p>
        </p:txBody>
      </p:sp>
    </p:spTree>
    <p:extLst>
      <p:ext uri="{BB962C8B-B14F-4D97-AF65-F5344CB8AC3E}">
        <p14:creationId xmlns:p14="http://schemas.microsoft.com/office/powerpoint/2010/main" val="223183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31179"/>
            <a:ext cx="10515600" cy="5545784"/>
          </a:xfrm>
        </p:spPr>
        <p:txBody>
          <a:bodyPr>
            <a:normAutofit/>
          </a:bodyPr>
          <a:lstStyle/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9966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Redo: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мужчина(_152)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мужчина(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_154)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алла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(10)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отец(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алла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Х =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9966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Redo: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_154)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юлия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(10)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отец(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юлия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Х =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31179"/>
            <a:ext cx="10515600" cy="5545784"/>
          </a:xfrm>
        </p:spPr>
        <p:txBody>
          <a:bodyPr>
            <a:normAutofit/>
          </a:bodyPr>
          <a:lstStyle/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9966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Redo: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мужчина(_152)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мужчина(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антон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антон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_154)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(11)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родитель(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антон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_154)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Fail:</a:t>
            </a:r>
            <a:r>
              <a:rPr lang="en-US" b="1" dirty="0">
                <a:solidFill>
                  <a:srgbClr val="9966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(10)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отец(_152, _154) ?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creep</a:t>
            </a:r>
          </a:p>
          <a:p>
            <a:pPr marL="0" indent="0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false.</a:t>
            </a:r>
            <a:endParaRPr lang="ru-RU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23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4899865" y="3930194"/>
            <a:ext cx="367406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?- отец(Х,_).</a:t>
            </a:r>
          </a:p>
          <a:p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Х = </a:t>
            </a:r>
            <a:r>
              <a:rPr lang="ru-RU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николай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Х = </a:t>
            </a:r>
            <a:r>
              <a:rPr lang="ru-RU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Х = </a:t>
            </a:r>
            <a:r>
              <a:rPr lang="ru-RU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иван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8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ru-RU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04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98593"/>
            <a:ext cx="6637986" cy="46783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Известно, что Лев лжет по понедельникам, вторникам и средам и в остальные дни говорит правду, а Единорог лжет по четвергам,</a:t>
            </a:r>
            <a:r>
              <a:rPr lang="en-US" dirty="0"/>
              <a:t> </a:t>
            </a:r>
            <a:r>
              <a:rPr lang="ru-RU" dirty="0"/>
              <a:t>пятницам и субботам и говорит правду в остальные дни. </a:t>
            </a:r>
          </a:p>
          <a:p>
            <a:pPr marL="0" indent="0">
              <a:buNone/>
            </a:pPr>
            <a:r>
              <a:rPr lang="ru-RU" dirty="0"/>
              <a:t>Однажды</a:t>
            </a:r>
            <a:r>
              <a:rPr lang="en-US" dirty="0"/>
              <a:t> </a:t>
            </a:r>
            <a:r>
              <a:rPr lang="ru-RU" dirty="0"/>
              <a:t>Лев сказал: «Вчера был один из дней, когда я лгу», на что Единорог</a:t>
            </a:r>
            <a:r>
              <a:rPr lang="en-US" dirty="0"/>
              <a:t> </a:t>
            </a:r>
            <a:r>
              <a:rPr lang="ru-RU" dirty="0"/>
              <a:t>заметил «Вчера был один из дней, когда я тоже лгу». </a:t>
            </a:r>
          </a:p>
          <a:p>
            <a:pPr marL="0" indent="0">
              <a:buNone/>
            </a:pPr>
            <a:r>
              <a:rPr lang="ru-RU" dirty="0"/>
              <a:t>Напишите программу, определяющую день беседы.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24</a:t>
            </a:fld>
            <a:endParaRPr lang="ru-RU"/>
          </a:p>
        </p:txBody>
      </p:sp>
      <p:pic>
        <p:nvPicPr>
          <p:cNvPr id="1026" name="Picture 2" descr="https://i.pinimg.com/originals/da/37/f0/da37f0548c66463b457a95488e82728c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1" b="6287"/>
          <a:stretch/>
        </p:blipFill>
        <p:spPr bwMode="auto">
          <a:xfrm>
            <a:off x="7823199" y="497945"/>
            <a:ext cx="4038427" cy="5858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31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5640"/>
            <a:ext cx="10515600" cy="5621323"/>
          </a:xfrm>
        </p:spPr>
        <p:txBody>
          <a:bodyPr>
            <a:noAutofit/>
          </a:bodyPr>
          <a:lstStyle/>
          <a:p>
            <a:pPr marL="1076325" indent="-1076325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беседа(Сегодня):- вчера(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Вчера,Сегодня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утверждение(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лев,Вчера,Сегодня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утверждение(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единорог,Вчера,Сегодня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1076325" indent="-1076325">
              <a:lnSpc>
                <a:spcPct val="100000"/>
              </a:lnSpc>
              <a:spcBef>
                <a:spcPts val="0"/>
              </a:spcBef>
              <a:buNone/>
            </a:pP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76325" indent="-1076325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утверждение(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Зверь,Вчера,Сегодня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):-лжет(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Зверь,Сегодня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),\+лжет(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Зверь,Вчера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Вчера,Сегодня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1076325" indent="-1076325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утверждение(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Зверь,Вчера,Сегодня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):- \+лжет(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Зверь,Сегодня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),лжет(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Зверь,Вчера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Вчера,Сегодня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1076325" indent="-1076325">
              <a:lnSpc>
                <a:spcPct val="100000"/>
              </a:lnSpc>
              <a:spcBef>
                <a:spcPts val="0"/>
              </a:spcBef>
              <a:buNone/>
            </a:pP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68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5640"/>
            <a:ext cx="10515600" cy="562132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лжет(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лев,понедельник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лжет(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лев,вторник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лжет(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лев,среда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лжет(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единорог,четверг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лжет(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единорог,пятница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лжет(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единорог,суббота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понедельник,вторник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вторник,среда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среда,четверг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четверг,пятница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пятница,суббота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суббота,воскресенье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вчера(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воскресенье,понедельник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416-57F9-4CC2-9992-72EA49F2D6DC}" type="slidenum">
              <a:rPr lang="ru-RU" smtClean="0"/>
              <a:t>26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7823078" y="2375690"/>
            <a:ext cx="3190920" cy="138499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?- беседа(Д).</a:t>
            </a:r>
          </a:p>
          <a:p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Д = четверг ;</a:t>
            </a:r>
          </a:p>
          <a:p>
            <a:r>
              <a:rPr lang="ru-RU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ru-R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63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AB328-D00B-49D5-AB42-2A3A6A5801E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6992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 Шаблон  презентации.potx" id="{7FCB4DDF-8D6B-4520-AAB8-5E6964B79EA7}" vid="{2D89CA64-5C52-45C8-878D-3DC9EDECA4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 Шаблон  презентации</Template>
  <TotalTime>933</TotalTime>
  <Words>1543</Words>
  <Application>Microsoft Office PowerPoint</Application>
  <PresentationFormat>Широкоэкранный</PresentationFormat>
  <Paragraphs>215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Тема Office</vt:lpstr>
      <vt:lpstr> Логика предикатов как язык представления знаний</vt:lpstr>
      <vt:lpstr>План</vt:lpstr>
      <vt:lpstr>1. Логическая модель представления знаний</vt:lpstr>
      <vt:lpstr>Основные классические модели ПЗ</vt:lpstr>
      <vt:lpstr>Почему мы начинаем с логики предикатов?</vt:lpstr>
      <vt:lpstr>2300 лет логической модели</vt:lpstr>
      <vt:lpstr>Сильные стороны логического подхода</vt:lpstr>
      <vt:lpstr>Слабые стороны логического подхода</vt:lpstr>
      <vt:lpstr>Пример формализации знаний</vt:lpstr>
      <vt:lpstr>Правила вывода modus ponens</vt:lpstr>
      <vt:lpstr>От логики предикатов к программе на Prolog </vt:lpstr>
      <vt:lpstr>Презентация PowerPoint</vt:lpstr>
      <vt:lpstr>2.  Переменная в Prolog </vt:lpstr>
      <vt:lpstr>Переменные в Prolog являются частью процесса сопоставления, а не «хранилищем» информации</vt:lpstr>
      <vt:lpstr>Область действия переменной</vt:lpstr>
      <vt:lpstr>Операция сопоставления</vt:lpstr>
      <vt:lpstr>Правила сопоставления</vt:lpstr>
      <vt:lpstr>3. Механизм логического вывода Prolog</vt:lpstr>
      <vt:lpstr>Презентация PowerPoint</vt:lpstr>
      <vt:lpstr>Трассировка программы </vt:lpstr>
      <vt:lpstr>Презентация PowerPoint</vt:lpstr>
      <vt:lpstr>Презентация PowerPoint</vt:lpstr>
      <vt:lpstr>Презентация PowerPoint</vt:lpstr>
      <vt:lpstr>Задача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системы искусственного интеллекта</dc:title>
  <dc:creator>Irina</dc:creator>
  <cp:lastModifiedBy>Ирина Валентиновна Николаева</cp:lastModifiedBy>
  <cp:revision>67</cp:revision>
  <dcterms:created xsi:type="dcterms:W3CDTF">2026-02-08T08:26:14Z</dcterms:created>
  <dcterms:modified xsi:type="dcterms:W3CDTF">2026-02-25T09:39:05Z</dcterms:modified>
</cp:coreProperties>
</file>